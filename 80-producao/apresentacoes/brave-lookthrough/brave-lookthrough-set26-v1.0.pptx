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3ed7cbce-cbb4-b918-7790-fe8ab4d36a80}">
          <p14:sldIdLst>
            <p14:sldId id="256"/>
          </p14:sldIdLst>
        </p14:section>
        <p14:section name="Fundos" id="{4cd6d54e-c143-ea81-adbd-ddc86f6cb8f3}">
          <p14:sldIdLst>
            <p14:sldId id="257"/>
            <p14:sldId id="258"/>
            <p14:sldId id="259"/>
            <p14:sldId id="260"/>
            <p14:sldId id="261"/>
          </p14:sldIdLst>
        </p14:section>
        <p14:section name="Leitura cruzada" id="{20848862-b4b6-a7df-d9bf-225aace4355d}">
          <p14:sldIdLst>
            <p14:sldId id="262"/>
          </p14:sldIdLst>
        </p14:section>
        <p14:section name="Fontes" id="{0ef25a5c-fb08-8e45-cc16-34d1447fb953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slide de fundo lê da esquerda para a direita: fundo, classes da lâmina de setembro, ativos da última carteira pública na CVM e o lastro dos FIDCs investidos.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Brave 30 entrega Informe Mensal de FIDC, que só traz os totais: 67,3% em cotas de FIDC e 32,4% em cotas de fundos FIF em 31/08. A base pública não lista os FIDCs investidos. Pedir a carteira aberta à Brave.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Brave 90: 75 FIDCs/Fiagros na CDA de 31/08/2026; o maior, Tecnomyl, tem 4,8% do PL. Pulverizado: as 14 maiores posições somam cerca de 37%.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Brave 180 XP: 32 FIDCs; é mais concentrado que o Brave 90 (Empresarial 8,8%, RED Multisetorial 7,0%). Fundo novo, de dez/25.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Brave Iron: a CDA de agosto está em sigilo até 29/11/2026, por isso o nível de ativos usa 30/06/2026. Debêntures aparecem pelo código do ativo; o nome do emissor precisa ser conferido.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Brave Prev XP Seguros: FIC que aplica 99,95% no Brave Prev FIFE. Os ativos mostrados são os do FIFE em 30/06/2026; agosto está em sigilo até 29/11/2026.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de conversa: Empresarial, RED, Futuro Previdência, Harpia, Hope I e Ironwood aparecem nos quatro fundos.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C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63040"/>
            <a:ext cx="108813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01752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O">
    <p:bg>
      <p:bgPr>
        <a:solidFill>
          <a:srgbClr val="1C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6304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Fundos Brave até o ativo final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017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Brave 30 · Brave 90 · Brave 180 XP · Brave Iron · Brave Prev XP Seguros</a:t>
            </a:r>
            <a:endParaRPr lang="en-US" sz="1800" dirty="0"/>
          </a:p>
        </p:txBody>
      </p:sp>
      <p:sp>
        <p:nvSpPr>
          <p:cNvPr id="4" name="dot-1"/>
          <p:cNvSpPr/>
          <p:nvPr/>
        </p:nvSpPr>
        <p:spPr>
          <a:xfrm>
            <a:off x="640080" y="4343400"/>
            <a:ext cx="566928" cy="566928"/>
          </a:xfrm>
          <a:prstGeom prst="ellipse">
            <a:avLst/>
          </a:prstGeom>
          <a:solidFill>
            <a:srgbClr val="A8823F"/>
          </a:solidFill>
          <a:ln w="12700">
            <a:solidFill>
              <a:srgbClr val="A8823F"/>
            </a:solidFill>
            <a:prstDash val="solid"/>
          </a:ln>
        </p:spPr>
      </p:sp>
      <p:sp>
        <p:nvSpPr>
          <p:cNvPr id="5" name="t-2"/>
          <p:cNvSpPr txBox="1"/>
          <p:nvPr/>
        </p:nvSpPr>
        <p:spPr>
          <a:xfrm>
            <a:off x="640080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-3"/>
          <p:cNvSpPr txBox="1"/>
          <p:nvPr/>
        </p:nvSpPr>
        <p:spPr>
          <a:xfrm>
            <a:off x="1353312" y="431596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Fundo</a:t>
            </a: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lâmina</a:t>
            </a:r>
            <a:endParaRPr lang="en-US" sz="1000" dirty="0"/>
          </a:p>
        </p:txBody>
      </p:sp>
      <p:sp>
        <p:nvSpPr>
          <p:cNvPr id="7" name="ln-4"/>
          <p:cNvSpPr/>
          <p:nvPr/>
        </p:nvSpPr>
        <p:spPr>
          <a:xfrm>
            <a:off x="2514600" y="4626864"/>
            <a:ext cx="365760" cy="0"/>
          </a:xfrm>
          <a:prstGeom prst="line">
            <a:avLst/>
          </a:prstGeom>
          <a:noFill/>
          <a:ln w="12700">
            <a:solidFill>
              <a:srgbClr val="D9C7A3"/>
            </a:solidFill>
            <a:prstDash val="solid"/>
          </a:ln>
        </p:spPr>
      </p:sp>
      <p:sp>
        <p:nvSpPr>
          <p:cNvPr id="8" name="dot-5"/>
          <p:cNvSpPr/>
          <p:nvPr/>
        </p:nvSpPr>
        <p:spPr>
          <a:xfrm>
            <a:off x="2971800" y="4343400"/>
            <a:ext cx="566928" cy="566928"/>
          </a:xfrm>
          <a:prstGeom prst="ellipse">
            <a:avLst/>
          </a:prstGeom>
          <a:solidFill>
            <a:srgbClr val="A8823F"/>
          </a:solidFill>
          <a:ln w="12700">
            <a:solidFill>
              <a:srgbClr val="A8823F"/>
            </a:solidFill>
            <a:prstDash val="solid"/>
          </a:ln>
        </p:spPr>
      </p:sp>
      <p:sp>
        <p:nvSpPr>
          <p:cNvPr id="9" name="t-6"/>
          <p:cNvSpPr txBox="1"/>
          <p:nvPr/>
        </p:nvSpPr>
        <p:spPr>
          <a:xfrm>
            <a:off x="2971800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-7"/>
          <p:cNvSpPr txBox="1"/>
          <p:nvPr/>
        </p:nvSpPr>
        <p:spPr>
          <a:xfrm>
            <a:off x="3685032" y="431596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Classe</a:t>
            </a: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lâmina set/26</a:t>
            </a:r>
            <a:endParaRPr lang="en-US" sz="1000" dirty="0"/>
          </a:p>
        </p:txBody>
      </p:sp>
      <p:sp>
        <p:nvSpPr>
          <p:cNvPr id="11" name="ln-8"/>
          <p:cNvSpPr/>
          <p:nvPr/>
        </p:nvSpPr>
        <p:spPr>
          <a:xfrm>
            <a:off x="4846320" y="4626864"/>
            <a:ext cx="365760" cy="0"/>
          </a:xfrm>
          <a:prstGeom prst="line">
            <a:avLst/>
          </a:prstGeom>
          <a:noFill/>
          <a:ln w="12700">
            <a:solidFill>
              <a:srgbClr val="D9C7A3"/>
            </a:solidFill>
            <a:prstDash val="solid"/>
          </a:ln>
        </p:spPr>
      </p:sp>
      <p:sp>
        <p:nvSpPr>
          <p:cNvPr id="12" name="dot-9"/>
          <p:cNvSpPr/>
          <p:nvPr/>
        </p:nvSpPr>
        <p:spPr>
          <a:xfrm>
            <a:off x="5303520" y="4343400"/>
            <a:ext cx="566928" cy="566928"/>
          </a:xfrm>
          <a:prstGeom prst="ellipse">
            <a:avLst/>
          </a:prstGeom>
          <a:solidFill>
            <a:srgbClr val="A8823F"/>
          </a:solidFill>
          <a:ln w="12700">
            <a:solidFill>
              <a:srgbClr val="A8823F"/>
            </a:solidFill>
            <a:prstDash val="solid"/>
          </a:ln>
        </p:spPr>
      </p:sp>
      <p:sp>
        <p:nvSpPr>
          <p:cNvPr id="13" name="t-10"/>
          <p:cNvSpPr txBox="1"/>
          <p:nvPr/>
        </p:nvSpPr>
        <p:spPr>
          <a:xfrm>
            <a:off x="5303520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-11"/>
          <p:cNvSpPr txBox="1"/>
          <p:nvPr/>
        </p:nvSpPr>
        <p:spPr>
          <a:xfrm>
            <a:off x="6016752" y="431596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Ativos</a:t>
            </a: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CDA CVM</a:t>
            </a:r>
            <a:endParaRPr lang="en-US" sz="1000" dirty="0"/>
          </a:p>
        </p:txBody>
      </p:sp>
      <p:sp>
        <p:nvSpPr>
          <p:cNvPr id="15" name="ln-12"/>
          <p:cNvSpPr/>
          <p:nvPr/>
        </p:nvSpPr>
        <p:spPr>
          <a:xfrm>
            <a:off x="7178040" y="4626864"/>
            <a:ext cx="365760" cy="0"/>
          </a:xfrm>
          <a:prstGeom prst="line">
            <a:avLst/>
          </a:prstGeom>
          <a:noFill/>
          <a:ln w="12700">
            <a:solidFill>
              <a:srgbClr val="D9C7A3"/>
            </a:solidFill>
            <a:prstDash val="solid"/>
          </a:ln>
        </p:spPr>
      </p:sp>
      <p:sp>
        <p:nvSpPr>
          <p:cNvPr id="16" name="dot-13"/>
          <p:cNvSpPr/>
          <p:nvPr/>
        </p:nvSpPr>
        <p:spPr>
          <a:xfrm>
            <a:off x="7635240" y="4343400"/>
            <a:ext cx="566928" cy="566928"/>
          </a:xfrm>
          <a:prstGeom prst="ellipse">
            <a:avLst/>
          </a:prstGeom>
          <a:solidFill>
            <a:srgbClr val="A8823F"/>
          </a:solidFill>
          <a:ln w="12700">
            <a:solidFill>
              <a:srgbClr val="A8823F"/>
            </a:solidFill>
            <a:prstDash val="solid"/>
          </a:ln>
        </p:spPr>
      </p:sp>
      <p:sp>
        <p:nvSpPr>
          <p:cNvPr id="17" name="t-14"/>
          <p:cNvSpPr txBox="1"/>
          <p:nvPr/>
        </p:nvSpPr>
        <p:spPr>
          <a:xfrm>
            <a:off x="7635240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-15"/>
          <p:cNvSpPr txBox="1"/>
          <p:nvPr/>
        </p:nvSpPr>
        <p:spPr>
          <a:xfrm>
            <a:off x="8348472" y="431596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Lastro</a:t>
            </a: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Informe FIDC</a:t>
            </a:r>
            <a:endParaRPr lang="en-US" sz="1000" dirty="0"/>
          </a:p>
        </p:txBody>
      </p:sp>
      <p:sp>
        <p:nvSpPr>
          <p:cNvPr id="19" name="t-16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Material interno de trabalho, 02/10/2026. Não é recomendação de investimento. Números extraídos das lâminas e dos dados abertos da CVM, sem conferência no regulamento; datas-base diferentes por nível (ver último slide).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Brave 30 FIDC</a:t>
            </a:r>
            <a:endParaRPr lang="en-US" sz="3000" dirty="0"/>
          </a:p>
        </p:txBody>
      </p:sp>
      <p:sp>
        <p:nvSpPr>
          <p:cNvPr id="3" name="t-17"/>
          <p:cNvSpPr txBox="1"/>
          <p:nvPr/>
        </p:nvSpPr>
        <p:spPr>
          <a:xfrm>
            <a:off x="457200" y="84124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CNPJ 41.196.241/0001-35  ·  PL R$ 757,5 mi (lâmina set/26)  ·  Resgate D+31</a:t>
            </a:r>
            <a:endParaRPr lang="en-US" sz="1100" dirty="0"/>
          </a:p>
        </p:txBody>
      </p:sp>
      <p:sp>
        <p:nvSpPr>
          <p:cNvPr id="4" name="t-18"/>
          <p:cNvSpPr txBox="1"/>
          <p:nvPr/>
        </p:nvSpPr>
        <p:spPr>
          <a:xfrm>
            <a:off x="457200" y="12984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1  </a:t>
            </a:r>
            <a:pPr indent="0" marL="0">
              <a:buNone/>
            </a:pPr>
            <a:r>
              <a:rPr lang="en-US" sz="950" b="1" spc="100" kern="0" dirty="0">
                <a:solidFill>
                  <a:schemeClr val="accent2"/>
                </a:solidFill>
              </a:rPr>
              <a:t>FUNDO</a:t>
            </a:r>
            <a:endParaRPr lang="en-US" sz="950" dirty="0"/>
          </a:p>
        </p:txBody>
      </p:sp>
      <p:sp>
        <p:nvSpPr>
          <p:cNvPr id="5" name="t-19"/>
          <p:cNvSpPr txBox="1"/>
          <p:nvPr/>
        </p:nvSpPr>
        <p:spPr>
          <a:xfrm>
            <a:off x="2395728" y="12984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2  </a:t>
            </a:r>
            <a:pPr indent="0" marL="0">
              <a:buNone/>
            </a:pPr>
            <a:r>
              <a:rPr lang="en-US" sz="950" b="1" spc="100" kern="0" dirty="0">
                <a:solidFill>
                  <a:schemeClr val="accent2"/>
                </a:solidFill>
              </a:rPr>
              <a:t>CLASSES · lâmina</a:t>
            </a:r>
            <a:endParaRPr lang="en-US" sz="950" dirty="0"/>
          </a:p>
        </p:txBody>
      </p:sp>
      <p:sp>
        <p:nvSpPr>
          <p:cNvPr id="6" name="t-20"/>
          <p:cNvSpPr txBox="1"/>
          <p:nvPr/>
        </p:nvSpPr>
        <p:spPr>
          <a:xfrm>
            <a:off x="4498848" y="12984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3  </a:t>
            </a:r>
            <a:pPr indent="0" marL="0">
              <a:buNone/>
            </a:pPr>
            <a:r>
              <a:rPr lang="en-US" sz="950" b="1" spc="100" kern="0" dirty="0">
                <a:solidFill>
                  <a:schemeClr val="accent2"/>
                </a:solidFill>
              </a:rPr>
              <a:t>ATIVOS · CVM</a:t>
            </a:r>
            <a:endParaRPr lang="en-US" sz="950" dirty="0"/>
          </a:p>
        </p:txBody>
      </p:sp>
      <p:sp>
        <p:nvSpPr>
          <p:cNvPr id="7" name="t-21"/>
          <p:cNvSpPr txBox="1"/>
          <p:nvPr/>
        </p:nvSpPr>
        <p:spPr>
          <a:xfrm>
            <a:off x="9436608" y="129844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4  </a:t>
            </a:r>
            <a:pPr indent="0" marL="0">
              <a:buNone/>
            </a:pPr>
            <a:r>
              <a:rPr lang="en-US" sz="950" b="1" spc="100" kern="0" dirty="0">
                <a:solidFill>
                  <a:schemeClr val="accent2"/>
                </a:solidFill>
              </a:rPr>
              <a:t>LASTRO DOS FIDCs</a:t>
            </a:r>
            <a:endParaRPr lang="en-US" sz="950" dirty="0"/>
          </a:p>
        </p:txBody>
      </p:sp>
      <p:sp>
        <p:nvSpPr>
          <p:cNvPr id="8" name="box-22"/>
          <p:cNvSpPr/>
          <p:nvPr/>
        </p:nvSpPr>
        <p:spPr>
          <a:xfrm>
            <a:off x="4498848" y="2834640"/>
            <a:ext cx="4572000" cy="964692"/>
          </a:xfrm>
          <a:prstGeom prst="roundRect">
            <a:avLst>
              <a:gd name="adj" fmla="val 5687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9" name="t-23"/>
          <p:cNvSpPr txBox="1"/>
          <p:nvPr/>
        </p:nvSpPr>
        <p:spPr>
          <a:xfrm>
            <a:off x="4636008" y="28895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Cotas de FIDC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10" name="t-24"/>
          <p:cNvSpPr txBox="1"/>
          <p:nvPr/>
        </p:nvSpPr>
        <p:spPr>
          <a:xfrm>
            <a:off x="8019288" y="28712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67,3%</a:t>
            </a:r>
            <a:endParaRPr lang="en-US" sz="1400" dirty="0"/>
          </a:p>
        </p:txBody>
      </p:sp>
      <p:sp>
        <p:nvSpPr>
          <p:cNvPr id="11" name="t-25"/>
          <p:cNvSpPr txBox="1"/>
          <p:nvPr/>
        </p:nvSpPr>
        <p:spPr>
          <a:xfrm>
            <a:off x="4636008" y="3145536"/>
            <a:ext cx="429768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tx2"/>
                </a:solidFill>
              </a:rPr>
              <a:t>Informe Mensal FIDC (31/08/26) só traz o total. FIDCs investidos não são listados na base pública. [verificar com a Brave: carteira aberta]</a:t>
            </a:r>
            <a:endParaRPr lang="en-US" sz="950" dirty="0"/>
          </a:p>
        </p:txBody>
      </p:sp>
      <p:sp>
        <p:nvSpPr>
          <p:cNvPr id="12" name="box-26"/>
          <p:cNvSpPr/>
          <p:nvPr/>
        </p:nvSpPr>
        <p:spPr>
          <a:xfrm>
            <a:off x="4498848" y="4018788"/>
            <a:ext cx="4572000" cy="964692"/>
          </a:xfrm>
          <a:prstGeom prst="roundRect">
            <a:avLst>
              <a:gd name="adj" fmla="val 5687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3" name="t-27"/>
          <p:cNvSpPr txBox="1"/>
          <p:nvPr/>
        </p:nvSpPr>
        <p:spPr>
          <a:xfrm>
            <a:off x="4636008" y="40736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Cotas de fundos (FIF)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14" name="t-28"/>
          <p:cNvSpPr txBox="1"/>
          <p:nvPr/>
        </p:nvSpPr>
        <p:spPr>
          <a:xfrm>
            <a:off x="8019288" y="40553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32,4%</a:t>
            </a:r>
            <a:endParaRPr lang="en-US" sz="1400" dirty="0"/>
          </a:p>
        </p:txBody>
      </p:sp>
      <p:sp>
        <p:nvSpPr>
          <p:cNvPr id="15" name="t-29"/>
          <p:cNvSpPr txBox="1"/>
          <p:nvPr/>
        </p:nvSpPr>
        <p:spPr>
          <a:xfrm>
            <a:off x="4636008" y="4329684"/>
            <a:ext cx="429768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tx2"/>
                </a:solidFill>
              </a:rPr>
              <a:t>Provavelmente os fundos de caixa/zeragem da nota da lâmina. Quais fundos: [verificar]</a:t>
            </a:r>
            <a:endParaRPr lang="en-US" sz="950" dirty="0"/>
          </a:p>
        </p:txBody>
      </p:sp>
      <p:sp>
        <p:nvSpPr>
          <p:cNvPr id="16" name="ln-30"/>
          <p:cNvSpPr/>
          <p:nvPr/>
        </p:nvSpPr>
        <p:spPr>
          <a:xfrm>
            <a:off x="2057400" y="3909060"/>
            <a:ext cx="169164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17" name="ln-31"/>
          <p:cNvSpPr/>
          <p:nvPr/>
        </p:nvSpPr>
        <p:spPr>
          <a:xfrm>
            <a:off x="2226564" y="3520440"/>
            <a:ext cx="0" cy="38862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18" name="ln-32"/>
          <p:cNvSpPr/>
          <p:nvPr/>
        </p:nvSpPr>
        <p:spPr>
          <a:xfrm>
            <a:off x="2226564" y="3520440"/>
            <a:ext cx="169164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19" name="ln-33"/>
          <p:cNvSpPr/>
          <p:nvPr/>
        </p:nvSpPr>
        <p:spPr>
          <a:xfrm>
            <a:off x="2057400" y="3909060"/>
            <a:ext cx="169164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20" name="ln-34"/>
          <p:cNvSpPr/>
          <p:nvPr/>
        </p:nvSpPr>
        <p:spPr>
          <a:xfrm>
            <a:off x="2226564" y="3909060"/>
            <a:ext cx="0" cy="38862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21" name="ln-35"/>
          <p:cNvSpPr/>
          <p:nvPr/>
        </p:nvSpPr>
        <p:spPr>
          <a:xfrm>
            <a:off x="2226564" y="4297680"/>
            <a:ext cx="169164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22" name="ln-36"/>
          <p:cNvSpPr/>
          <p:nvPr/>
        </p:nvSpPr>
        <p:spPr>
          <a:xfrm>
            <a:off x="4133088" y="3520440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23" name="ln-37"/>
          <p:cNvSpPr/>
          <p:nvPr/>
        </p:nvSpPr>
        <p:spPr>
          <a:xfrm>
            <a:off x="4315968" y="3316986"/>
            <a:ext cx="0" cy="203454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24" name="ln-38"/>
          <p:cNvSpPr/>
          <p:nvPr/>
        </p:nvSpPr>
        <p:spPr>
          <a:xfrm>
            <a:off x="4315968" y="3316986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25" name="ln-39"/>
          <p:cNvSpPr/>
          <p:nvPr/>
        </p:nvSpPr>
        <p:spPr>
          <a:xfrm>
            <a:off x="4133088" y="4297680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26" name="ln-40"/>
          <p:cNvSpPr/>
          <p:nvPr/>
        </p:nvSpPr>
        <p:spPr>
          <a:xfrm>
            <a:off x="4315968" y="4297680"/>
            <a:ext cx="0" cy="203454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27" name="ln-41"/>
          <p:cNvSpPr/>
          <p:nvPr/>
        </p:nvSpPr>
        <p:spPr>
          <a:xfrm>
            <a:off x="4315968" y="4501134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28" name="box-42"/>
          <p:cNvSpPr/>
          <p:nvPr/>
        </p:nvSpPr>
        <p:spPr>
          <a:xfrm>
            <a:off x="457200" y="3223260"/>
            <a:ext cx="1600200" cy="1371600"/>
          </a:xfrm>
          <a:prstGeom prst="roundRect">
            <a:avLst>
              <a:gd name="adj" fmla="val 4000"/>
            </a:avLst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sp>
        <p:nvSpPr>
          <p:cNvPr id="29" name="t-43"/>
          <p:cNvSpPr txBox="1"/>
          <p:nvPr/>
        </p:nvSpPr>
        <p:spPr>
          <a:xfrm>
            <a:off x="566928" y="3314700"/>
            <a:ext cx="1380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Brave 30 FIDC</a:t>
            </a: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R$ 757,5 mi</a:t>
            </a:r>
            <a:endParaRPr lang="en-US" sz="1000" dirty="0"/>
          </a:p>
        </p:txBody>
      </p:sp>
      <p:sp>
        <p:nvSpPr>
          <p:cNvPr id="30" name="box-44"/>
          <p:cNvSpPr/>
          <p:nvPr/>
        </p:nvSpPr>
        <p:spPr>
          <a:xfrm>
            <a:off x="2395728" y="324612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A8823F"/>
            </a:solidFill>
            <a:prstDash val="solid"/>
          </a:ln>
        </p:spPr>
      </p:sp>
      <p:sp>
        <p:nvSpPr>
          <p:cNvPr id="31" name="t-45"/>
          <p:cNvSpPr txBox="1"/>
          <p:nvPr/>
        </p:nvSpPr>
        <p:spPr>
          <a:xfrm>
            <a:off x="2487168" y="32826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FIDC Sênior</a:t>
            </a:r>
            <a:endParaRPr lang="en-US" sz="1000" dirty="0"/>
          </a:p>
        </p:txBody>
      </p:sp>
      <p:sp>
        <p:nvSpPr>
          <p:cNvPr id="32" name="t-46"/>
          <p:cNvSpPr txBox="1"/>
          <p:nvPr/>
        </p:nvSpPr>
        <p:spPr>
          <a:xfrm>
            <a:off x="2487168" y="35021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66%</a:t>
            </a:r>
            <a:endParaRPr lang="en-US" sz="1400" dirty="0"/>
          </a:p>
        </p:txBody>
      </p:sp>
      <p:sp>
        <p:nvSpPr>
          <p:cNvPr id="33" name="box-47"/>
          <p:cNvSpPr/>
          <p:nvPr/>
        </p:nvSpPr>
        <p:spPr>
          <a:xfrm>
            <a:off x="2395728" y="402336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A8823F"/>
            </a:solidFill>
            <a:prstDash val="solid"/>
          </a:ln>
        </p:spPr>
      </p:sp>
      <p:sp>
        <p:nvSpPr>
          <p:cNvPr id="34" name="t-48"/>
          <p:cNvSpPr txBox="1"/>
          <p:nvPr/>
        </p:nvSpPr>
        <p:spPr>
          <a:xfrm>
            <a:off x="2487168" y="40599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Caixa*</a:t>
            </a:r>
            <a:endParaRPr lang="en-US" sz="1000" dirty="0"/>
          </a:p>
        </p:txBody>
      </p:sp>
      <p:sp>
        <p:nvSpPr>
          <p:cNvPr id="35" name="t-49"/>
          <p:cNvSpPr txBox="1"/>
          <p:nvPr/>
        </p:nvSpPr>
        <p:spPr>
          <a:xfrm>
            <a:off x="2487168" y="42793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34%</a:t>
            </a:r>
            <a:endParaRPr lang="en-US" sz="1400" dirty="0"/>
          </a:p>
        </p:txBody>
      </p:sp>
      <p:sp>
        <p:nvSpPr>
          <p:cNvPr id="36" name="ln-50"/>
          <p:cNvSpPr/>
          <p:nvPr/>
        </p:nvSpPr>
        <p:spPr>
          <a:xfrm>
            <a:off x="9070848" y="3316986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37" name="ln-51"/>
          <p:cNvSpPr/>
          <p:nvPr/>
        </p:nvSpPr>
        <p:spPr>
          <a:xfrm>
            <a:off x="9253728" y="3316986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38" name="box-52"/>
          <p:cNvSpPr/>
          <p:nvPr/>
        </p:nvSpPr>
        <p:spPr>
          <a:xfrm>
            <a:off x="9436608" y="2631186"/>
            <a:ext cx="230428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C7A3"/>
            </a:solidFill>
            <a:prstDash val="dash"/>
          </a:ln>
        </p:spPr>
      </p:sp>
      <p:sp>
        <p:nvSpPr>
          <p:cNvPr id="39" name="t-53"/>
          <p:cNvSpPr txBox="1"/>
          <p:nvPr/>
        </p:nvSpPr>
        <p:spPr>
          <a:xfrm>
            <a:off x="9573768" y="2740914"/>
            <a:ext cx="202996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[verificar]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Sem a lista de FIDCs investidos não dá para abrir o lastro. Pedir à Brave a carteira aberta do Brave 30.</a:t>
            </a:r>
            <a:endParaRPr lang="en-US" sz="950" dirty="0"/>
          </a:p>
        </p:txBody>
      </p:sp>
      <p:sp>
        <p:nvSpPr>
          <p:cNvPr id="40" name="t-54"/>
          <p:cNvSpPr txBox="1"/>
          <p:nvPr/>
        </p:nvSpPr>
        <p:spPr>
          <a:xfrm>
            <a:off x="457200" y="63276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4"/>
                </a:solidFill>
              </a:rPr>
              <a:t>Classes: lâmina set/26 · Nível 2: Informe Mensal FIDC CVM, 31/08/2026 (Brave 30 não entrega CDA com ativos)  ·  *Caixa = zeragem e títulos públicos (nota da lâmina). % do nível 2 = lâmina set/26; % dos níveis 3–4 = data-base CVM indicada.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Brave 90 FIC FIDC</a:t>
            </a:r>
            <a:endParaRPr lang="en-US" sz="3000" dirty="0"/>
          </a:p>
        </p:txBody>
      </p:sp>
      <p:sp>
        <p:nvSpPr>
          <p:cNvPr id="3" name="t-55"/>
          <p:cNvSpPr txBox="1"/>
          <p:nvPr/>
        </p:nvSpPr>
        <p:spPr>
          <a:xfrm>
            <a:off x="457200" y="84124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CNPJ 35.726.300/0001-37  ·  PL R$ 1,61 bi (lâmina set/26)  ·  Resgate D+91</a:t>
            </a:r>
            <a:endParaRPr lang="en-US" sz="1100" dirty="0"/>
          </a:p>
        </p:txBody>
      </p:sp>
      <p:sp>
        <p:nvSpPr>
          <p:cNvPr id="4" name="t-56"/>
          <p:cNvSpPr txBox="1"/>
          <p:nvPr/>
        </p:nvSpPr>
        <p:spPr>
          <a:xfrm>
            <a:off x="457200" y="12984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1  </a:t>
            </a:r>
            <a:pPr indent="0" marL="0">
              <a:buNone/>
            </a:pPr>
            <a:r>
              <a:rPr lang="en-US" sz="950" b="1" spc="100" kern="0" dirty="0">
                <a:solidFill>
                  <a:schemeClr val="accent2"/>
                </a:solidFill>
              </a:rPr>
              <a:t>FUNDO</a:t>
            </a:r>
            <a:endParaRPr lang="en-US" sz="950" dirty="0"/>
          </a:p>
        </p:txBody>
      </p:sp>
      <p:sp>
        <p:nvSpPr>
          <p:cNvPr id="5" name="t-57"/>
          <p:cNvSpPr txBox="1"/>
          <p:nvPr/>
        </p:nvSpPr>
        <p:spPr>
          <a:xfrm>
            <a:off x="2395728" y="12984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2  </a:t>
            </a:r>
            <a:pPr indent="0" marL="0">
              <a:buNone/>
            </a:pPr>
            <a:r>
              <a:rPr lang="en-US" sz="950" b="1" spc="100" kern="0" dirty="0">
                <a:solidFill>
                  <a:schemeClr val="accent2"/>
                </a:solidFill>
              </a:rPr>
              <a:t>CLASSES · lâmina</a:t>
            </a:r>
            <a:endParaRPr lang="en-US" sz="950" dirty="0"/>
          </a:p>
        </p:txBody>
      </p:sp>
      <p:sp>
        <p:nvSpPr>
          <p:cNvPr id="6" name="t-58"/>
          <p:cNvSpPr txBox="1"/>
          <p:nvPr/>
        </p:nvSpPr>
        <p:spPr>
          <a:xfrm>
            <a:off x="4498848" y="12984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3  </a:t>
            </a:r>
            <a:pPr indent="0" marL="0">
              <a:buNone/>
            </a:pPr>
            <a:r>
              <a:rPr lang="en-US" sz="950" b="1" spc="100" kern="0" dirty="0">
                <a:solidFill>
                  <a:schemeClr val="accent2"/>
                </a:solidFill>
              </a:rPr>
              <a:t>ATIVOS · CVM</a:t>
            </a:r>
            <a:endParaRPr lang="en-US" sz="950" dirty="0"/>
          </a:p>
        </p:txBody>
      </p:sp>
      <p:sp>
        <p:nvSpPr>
          <p:cNvPr id="7" name="t-59"/>
          <p:cNvSpPr txBox="1"/>
          <p:nvPr/>
        </p:nvSpPr>
        <p:spPr>
          <a:xfrm>
            <a:off x="9436608" y="129844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4  </a:t>
            </a:r>
            <a:pPr indent="0" marL="0">
              <a:buNone/>
            </a:pPr>
            <a:r>
              <a:rPr lang="en-US" sz="950" b="1" spc="100" kern="0" dirty="0">
                <a:solidFill>
                  <a:schemeClr val="accent2"/>
                </a:solidFill>
              </a:rPr>
              <a:t>LASTRO DOS FIDCs</a:t>
            </a:r>
            <a:endParaRPr lang="en-US" sz="950" dirty="0"/>
          </a:p>
        </p:txBody>
      </p:sp>
      <p:sp>
        <p:nvSpPr>
          <p:cNvPr id="8" name="box-60"/>
          <p:cNvSpPr/>
          <p:nvPr/>
        </p:nvSpPr>
        <p:spPr>
          <a:xfrm>
            <a:off x="4498848" y="2272284"/>
            <a:ext cx="4572000" cy="1901952"/>
          </a:xfrm>
          <a:prstGeom prst="roundRect">
            <a:avLst>
              <a:gd name="adj" fmla="val 2885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9" name="t-61"/>
          <p:cNvSpPr txBox="1"/>
          <p:nvPr/>
        </p:nvSpPr>
        <p:spPr>
          <a:xfrm>
            <a:off x="4636008" y="23271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FIDCs investidos</a:t>
            </a:r>
            <a:pPr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   75 posições</a:t>
            </a:r>
            <a:endParaRPr lang="en-US" sz="1150" dirty="0"/>
          </a:p>
        </p:txBody>
      </p:sp>
      <p:sp>
        <p:nvSpPr>
          <p:cNvPr id="10" name="t-62"/>
          <p:cNvSpPr txBox="1"/>
          <p:nvPr/>
        </p:nvSpPr>
        <p:spPr>
          <a:xfrm>
            <a:off x="8019288" y="23088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89,1%</a:t>
            </a:r>
            <a:endParaRPr lang="en-US" sz="1400" dirty="0"/>
          </a:p>
        </p:txBody>
      </p:sp>
      <p:sp>
        <p:nvSpPr>
          <p:cNvPr id="11" name="t-63"/>
          <p:cNvSpPr txBox="1"/>
          <p:nvPr/>
        </p:nvSpPr>
        <p:spPr>
          <a:xfrm>
            <a:off x="4636008" y="2583180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Tecnomyl</a:t>
            </a:r>
            <a:endParaRPr lang="en-US" sz="950" dirty="0"/>
          </a:p>
        </p:txBody>
      </p:sp>
      <p:sp>
        <p:nvSpPr>
          <p:cNvPr id="12" name="t-64"/>
          <p:cNvSpPr txBox="1"/>
          <p:nvPr/>
        </p:nvSpPr>
        <p:spPr>
          <a:xfrm>
            <a:off x="6236208" y="2583180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4,8%</a:t>
            </a:r>
            <a:endParaRPr lang="en-US" sz="950" dirty="0"/>
          </a:p>
        </p:txBody>
      </p:sp>
      <p:sp>
        <p:nvSpPr>
          <p:cNvPr id="13" name="t-65"/>
          <p:cNvSpPr txBox="1"/>
          <p:nvPr/>
        </p:nvSpPr>
        <p:spPr>
          <a:xfrm>
            <a:off x="6830568" y="2583180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Sifra Plus</a:t>
            </a:r>
            <a:endParaRPr lang="en-US" sz="950" dirty="0"/>
          </a:p>
        </p:txBody>
      </p:sp>
      <p:sp>
        <p:nvSpPr>
          <p:cNvPr id="14" name="t-66"/>
          <p:cNvSpPr txBox="1"/>
          <p:nvPr/>
        </p:nvSpPr>
        <p:spPr>
          <a:xfrm>
            <a:off x="8430768" y="2583180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3,3%</a:t>
            </a:r>
            <a:endParaRPr lang="en-US" sz="950" dirty="0"/>
          </a:p>
        </p:txBody>
      </p:sp>
      <p:sp>
        <p:nvSpPr>
          <p:cNvPr id="15" name="t-67"/>
          <p:cNvSpPr txBox="1"/>
          <p:nvPr/>
        </p:nvSpPr>
        <p:spPr>
          <a:xfrm>
            <a:off x="4636008" y="2770632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Futuro Previdência Consig.</a:t>
            </a:r>
            <a:endParaRPr lang="en-US" sz="950" dirty="0"/>
          </a:p>
        </p:txBody>
      </p:sp>
      <p:sp>
        <p:nvSpPr>
          <p:cNvPr id="16" name="t-68"/>
          <p:cNvSpPr txBox="1"/>
          <p:nvPr/>
        </p:nvSpPr>
        <p:spPr>
          <a:xfrm>
            <a:off x="6236208" y="2770632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3,1%</a:t>
            </a:r>
            <a:endParaRPr lang="en-US" sz="950" dirty="0"/>
          </a:p>
        </p:txBody>
      </p:sp>
      <p:sp>
        <p:nvSpPr>
          <p:cNvPr id="17" name="t-69"/>
          <p:cNvSpPr txBox="1"/>
          <p:nvPr/>
        </p:nvSpPr>
        <p:spPr>
          <a:xfrm>
            <a:off x="6830568" y="2770632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Ironwood Consig Multi I</a:t>
            </a:r>
            <a:endParaRPr lang="en-US" sz="950" dirty="0"/>
          </a:p>
        </p:txBody>
      </p:sp>
      <p:sp>
        <p:nvSpPr>
          <p:cNvPr id="18" name="t-70"/>
          <p:cNvSpPr txBox="1"/>
          <p:nvPr/>
        </p:nvSpPr>
        <p:spPr>
          <a:xfrm>
            <a:off x="8430768" y="2770632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3,0%</a:t>
            </a:r>
            <a:endParaRPr lang="en-US" sz="950" dirty="0"/>
          </a:p>
        </p:txBody>
      </p:sp>
      <p:sp>
        <p:nvSpPr>
          <p:cNvPr id="19" name="t-71"/>
          <p:cNvSpPr txBox="1"/>
          <p:nvPr/>
        </p:nvSpPr>
        <p:spPr>
          <a:xfrm>
            <a:off x="4636008" y="2958084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Hope I</a:t>
            </a:r>
            <a:endParaRPr lang="en-US" sz="950" dirty="0"/>
          </a:p>
        </p:txBody>
      </p:sp>
      <p:sp>
        <p:nvSpPr>
          <p:cNvPr id="20" name="t-72"/>
          <p:cNvSpPr txBox="1"/>
          <p:nvPr/>
        </p:nvSpPr>
        <p:spPr>
          <a:xfrm>
            <a:off x="6236208" y="2958084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2,5%</a:t>
            </a:r>
            <a:endParaRPr lang="en-US" sz="950" dirty="0"/>
          </a:p>
        </p:txBody>
      </p:sp>
      <p:sp>
        <p:nvSpPr>
          <p:cNvPr id="21" name="t-73"/>
          <p:cNvSpPr txBox="1"/>
          <p:nvPr/>
        </p:nvSpPr>
        <p:spPr>
          <a:xfrm>
            <a:off x="6830568" y="2958084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Empresarial</a:t>
            </a:r>
            <a:endParaRPr lang="en-US" sz="950" dirty="0"/>
          </a:p>
        </p:txBody>
      </p:sp>
      <p:sp>
        <p:nvSpPr>
          <p:cNvPr id="22" name="t-74"/>
          <p:cNvSpPr txBox="1"/>
          <p:nvPr/>
        </p:nvSpPr>
        <p:spPr>
          <a:xfrm>
            <a:off x="8430768" y="2958084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2,5%</a:t>
            </a:r>
            <a:endParaRPr lang="en-US" sz="950" dirty="0"/>
          </a:p>
        </p:txBody>
      </p:sp>
      <p:sp>
        <p:nvSpPr>
          <p:cNvPr id="23" name="t-75"/>
          <p:cNvSpPr txBox="1"/>
          <p:nvPr/>
        </p:nvSpPr>
        <p:spPr>
          <a:xfrm>
            <a:off x="4636008" y="3145536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Storrberg</a:t>
            </a:r>
            <a:endParaRPr lang="en-US" sz="950" dirty="0"/>
          </a:p>
        </p:txBody>
      </p:sp>
      <p:sp>
        <p:nvSpPr>
          <p:cNvPr id="24" name="t-76"/>
          <p:cNvSpPr txBox="1"/>
          <p:nvPr/>
        </p:nvSpPr>
        <p:spPr>
          <a:xfrm>
            <a:off x="6236208" y="3145536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2,5%</a:t>
            </a:r>
            <a:endParaRPr lang="en-US" sz="950" dirty="0"/>
          </a:p>
        </p:txBody>
      </p:sp>
      <p:sp>
        <p:nvSpPr>
          <p:cNvPr id="25" name="t-77"/>
          <p:cNvSpPr txBox="1"/>
          <p:nvPr/>
        </p:nvSpPr>
        <p:spPr>
          <a:xfrm>
            <a:off x="6830568" y="3145536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Gávea Open</a:t>
            </a:r>
            <a:endParaRPr lang="en-US" sz="950" dirty="0"/>
          </a:p>
        </p:txBody>
      </p:sp>
      <p:sp>
        <p:nvSpPr>
          <p:cNvPr id="26" name="t-78"/>
          <p:cNvSpPr txBox="1"/>
          <p:nvPr/>
        </p:nvSpPr>
        <p:spPr>
          <a:xfrm>
            <a:off x="8430768" y="3145536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2,5%</a:t>
            </a:r>
            <a:endParaRPr lang="en-US" sz="950" dirty="0"/>
          </a:p>
        </p:txBody>
      </p:sp>
      <p:sp>
        <p:nvSpPr>
          <p:cNvPr id="27" name="t-79"/>
          <p:cNvSpPr txBox="1"/>
          <p:nvPr/>
        </p:nvSpPr>
        <p:spPr>
          <a:xfrm>
            <a:off x="4636008" y="3332988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RNX</a:t>
            </a:r>
            <a:endParaRPr lang="en-US" sz="950" dirty="0"/>
          </a:p>
        </p:txBody>
      </p:sp>
      <p:sp>
        <p:nvSpPr>
          <p:cNvPr id="28" name="t-80"/>
          <p:cNvSpPr txBox="1"/>
          <p:nvPr/>
        </p:nvSpPr>
        <p:spPr>
          <a:xfrm>
            <a:off x="6236208" y="3332988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2,4%</a:t>
            </a:r>
            <a:endParaRPr lang="en-US" sz="950" dirty="0"/>
          </a:p>
        </p:txBody>
      </p:sp>
      <p:sp>
        <p:nvSpPr>
          <p:cNvPr id="29" name="t-81"/>
          <p:cNvSpPr txBox="1"/>
          <p:nvPr/>
        </p:nvSpPr>
        <p:spPr>
          <a:xfrm>
            <a:off x="6830568" y="3332988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Sifra Star</a:t>
            </a:r>
            <a:endParaRPr lang="en-US" sz="950" dirty="0"/>
          </a:p>
        </p:txBody>
      </p:sp>
      <p:sp>
        <p:nvSpPr>
          <p:cNvPr id="30" name="t-82"/>
          <p:cNvSpPr txBox="1"/>
          <p:nvPr/>
        </p:nvSpPr>
        <p:spPr>
          <a:xfrm>
            <a:off x="8430768" y="3332988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2,3%</a:t>
            </a:r>
            <a:endParaRPr lang="en-US" sz="950" dirty="0"/>
          </a:p>
        </p:txBody>
      </p:sp>
      <p:sp>
        <p:nvSpPr>
          <p:cNvPr id="31" name="t-83"/>
          <p:cNvSpPr txBox="1"/>
          <p:nvPr/>
        </p:nvSpPr>
        <p:spPr>
          <a:xfrm>
            <a:off x="4636008" y="3520440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Multiplike</a:t>
            </a:r>
            <a:endParaRPr lang="en-US" sz="950" dirty="0"/>
          </a:p>
        </p:txBody>
      </p:sp>
      <p:sp>
        <p:nvSpPr>
          <p:cNvPr id="32" name="t-84"/>
          <p:cNvSpPr txBox="1"/>
          <p:nvPr/>
        </p:nvSpPr>
        <p:spPr>
          <a:xfrm>
            <a:off x="6236208" y="3520440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2,2%</a:t>
            </a:r>
            <a:endParaRPr lang="en-US" sz="950" dirty="0"/>
          </a:p>
        </p:txBody>
      </p:sp>
      <p:sp>
        <p:nvSpPr>
          <p:cNvPr id="33" name="t-85"/>
          <p:cNvSpPr txBox="1"/>
          <p:nvPr/>
        </p:nvSpPr>
        <p:spPr>
          <a:xfrm>
            <a:off x="6830568" y="3520440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Agro Defender</a:t>
            </a:r>
            <a:endParaRPr lang="en-US" sz="950" dirty="0"/>
          </a:p>
        </p:txBody>
      </p:sp>
      <p:sp>
        <p:nvSpPr>
          <p:cNvPr id="34" name="t-86"/>
          <p:cNvSpPr txBox="1"/>
          <p:nvPr/>
        </p:nvSpPr>
        <p:spPr>
          <a:xfrm>
            <a:off x="8430768" y="3520440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2,2%</a:t>
            </a:r>
            <a:endParaRPr lang="en-US" sz="950" dirty="0"/>
          </a:p>
        </p:txBody>
      </p:sp>
      <p:sp>
        <p:nvSpPr>
          <p:cNvPr id="35" name="t-87"/>
          <p:cNvSpPr txBox="1"/>
          <p:nvPr/>
        </p:nvSpPr>
        <p:spPr>
          <a:xfrm>
            <a:off x="4636008" y="3707892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Varyagi I</a:t>
            </a:r>
            <a:endParaRPr lang="en-US" sz="950" dirty="0"/>
          </a:p>
        </p:txBody>
      </p:sp>
      <p:sp>
        <p:nvSpPr>
          <p:cNvPr id="36" name="t-88"/>
          <p:cNvSpPr txBox="1"/>
          <p:nvPr/>
        </p:nvSpPr>
        <p:spPr>
          <a:xfrm>
            <a:off x="6236208" y="3707892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2,1%</a:t>
            </a:r>
            <a:endParaRPr lang="en-US" sz="950" dirty="0"/>
          </a:p>
        </p:txBody>
      </p:sp>
      <p:sp>
        <p:nvSpPr>
          <p:cNvPr id="37" name="t-89"/>
          <p:cNvSpPr txBox="1"/>
          <p:nvPr/>
        </p:nvSpPr>
        <p:spPr>
          <a:xfrm>
            <a:off x="6830568" y="3707892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RED Multisetorial</a:t>
            </a:r>
            <a:endParaRPr lang="en-US" sz="950" dirty="0"/>
          </a:p>
        </p:txBody>
      </p:sp>
      <p:sp>
        <p:nvSpPr>
          <p:cNvPr id="38" name="t-90"/>
          <p:cNvSpPr txBox="1"/>
          <p:nvPr/>
        </p:nvSpPr>
        <p:spPr>
          <a:xfrm>
            <a:off x="8430768" y="3707892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2,1%</a:t>
            </a:r>
            <a:endParaRPr lang="en-US" sz="950" dirty="0"/>
          </a:p>
        </p:txBody>
      </p:sp>
      <p:sp>
        <p:nvSpPr>
          <p:cNvPr id="39" name="t-91"/>
          <p:cNvSpPr txBox="1"/>
          <p:nvPr/>
        </p:nvSpPr>
        <p:spPr>
          <a:xfrm>
            <a:off x="4636008" y="3895344"/>
            <a:ext cx="42976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+ 61 outras posições somando 51,7%</a:t>
            </a:r>
            <a:endParaRPr lang="en-US" sz="900" dirty="0"/>
          </a:p>
        </p:txBody>
      </p:sp>
      <p:sp>
        <p:nvSpPr>
          <p:cNvPr id="40" name="box-92"/>
          <p:cNvSpPr/>
          <p:nvPr/>
        </p:nvSpPr>
        <p:spPr>
          <a:xfrm>
            <a:off x="4498848" y="4393692"/>
            <a:ext cx="4572000" cy="1152144"/>
          </a:xfrm>
          <a:prstGeom prst="roundRect">
            <a:avLst>
              <a:gd name="adj" fmla="val 4762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41" name="t-93"/>
          <p:cNvSpPr txBox="1"/>
          <p:nvPr/>
        </p:nvSpPr>
        <p:spPr>
          <a:xfrm>
            <a:off x="4636008" y="44485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Caixa e fundos RF</a:t>
            </a:r>
            <a:pPr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   8 posições</a:t>
            </a:r>
            <a:endParaRPr lang="en-US" sz="1150" dirty="0"/>
          </a:p>
        </p:txBody>
      </p:sp>
      <p:sp>
        <p:nvSpPr>
          <p:cNvPr id="42" name="t-94"/>
          <p:cNvSpPr txBox="1"/>
          <p:nvPr/>
        </p:nvSpPr>
        <p:spPr>
          <a:xfrm>
            <a:off x="8019288" y="44302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12,8%</a:t>
            </a:r>
            <a:endParaRPr lang="en-US" sz="1400" dirty="0"/>
          </a:p>
        </p:txBody>
      </p:sp>
      <p:sp>
        <p:nvSpPr>
          <p:cNvPr id="43" name="t-95"/>
          <p:cNvSpPr txBox="1"/>
          <p:nvPr/>
        </p:nvSpPr>
        <p:spPr>
          <a:xfrm>
            <a:off x="4636008" y="4704588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BTG Pactual CDB I FI RF</a:t>
            </a:r>
            <a:endParaRPr lang="en-US" sz="950" dirty="0"/>
          </a:p>
        </p:txBody>
      </p:sp>
      <p:sp>
        <p:nvSpPr>
          <p:cNvPr id="44" name="t-96"/>
          <p:cNvSpPr txBox="1"/>
          <p:nvPr/>
        </p:nvSpPr>
        <p:spPr>
          <a:xfrm>
            <a:off x="6236208" y="4704588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3,5%</a:t>
            </a:r>
            <a:endParaRPr lang="en-US" sz="950" dirty="0"/>
          </a:p>
        </p:txBody>
      </p:sp>
      <p:sp>
        <p:nvSpPr>
          <p:cNvPr id="45" name="t-97"/>
          <p:cNvSpPr txBox="1"/>
          <p:nvPr/>
        </p:nvSpPr>
        <p:spPr>
          <a:xfrm>
            <a:off x="6830568" y="4704588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Bradesco RF Ref. DI Federal</a:t>
            </a:r>
            <a:endParaRPr lang="en-US" sz="950" dirty="0"/>
          </a:p>
        </p:txBody>
      </p:sp>
      <p:sp>
        <p:nvSpPr>
          <p:cNvPr id="46" name="t-98"/>
          <p:cNvSpPr txBox="1"/>
          <p:nvPr/>
        </p:nvSpPr>
        <p:spPr>
          <a:xfrm>
            <a:off x="8430768" y="4704588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2,7%</a:t>
            </a:r>
            <a:endParaRPr lang="en-US" sz="950" dirty="0"/>
          </a:p>
        </p:txBody>
      </p:sp>
      <p:sp>
        <p:nvSpPr>
          <p:cNvPr id="47" name="t-99"/>
          <p:cNvSpPr txBox="1"/>
          <p:nvPr/>
        </p:nvSpPr>
        <p:spPr>
          <a:xfrm>
            <a:off x="4636008" y="4892040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Safra Soberano RP</a:t>
            </a:r>
            <a:endParaRPr lang="en-US" sz="950" dirty="0"/>
          </a:p>
        </p:txBody>
      </p:sp>
      <p:sp>
        <p:nvSpPr>
          <p:cNvPr id="48" name="t-100"/>
          <p:cNvSpPr txBox="1"/>
          <p:nvPr/>
        </p:nvSpPr>
        <p:spPr>
          <a:xfrm>
            <a:off x="6236208" y="4892040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2,5%</a:t>
            </a:r>
            <a:endParaRPr lang="en-US" sz="950" dirty="0"/>
          </a:p>
        </p:txBody>
      </p:sp>
      <p:sp>
        <p:nvSpPr>
          <p:cNvPr id="49" name="t-101"/>
          <p:cNvSpPr txBox="1"/>
          <p:nvPr/>
        </p:nvSpPr>
        <p:spPr>
          <a:xfrm>
            <a:off x="6830568" y="4892040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BTG Tesouro Selic</a:t>
            </a:r>
            <a:endParaRPr lang="en-US" sz="950" dirty="0"/>
          </a:p>
        </p:txBody>
      </p:sp>
      <p:sp>
        <p:nvSpPr>
          <p:cNvPr id="50" name="t-102"/>
          <p:cNvSpPr txBox="1"/>
          <p:nvPr/>
        </p:nvSpPr>
        <p:spPr>
          <a:xfrm>
            <a:off x="8430768" y="4892040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1,4%</a:t>
            </a:r>
            <a:endParaRPr lang="en-US" sz="950" dirty="0"/>
          </a:p>
        </p:txBody>
      </p:sp>
      <p:sp>
        <p:nvSpPr>
          <p:cNvPr id="51" name="t-103"/>
          <p:cNvSpPr txBox="1"/>
          <p:nvPr/>
        </p:nvSpPr>
        <p:spPr>
          <a:xfrm>
            <a:off x="4636008" y="5079492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MAG Cash FIF RF</a:t>
            </a:r>
            <a:endParaRPr lang="en-US" sz="950" dirty="0"/>
          </a:p>
        </p:txBody>
      </p:sp>
      <p:sp>
        <p:nvSpPr>
          <p:cNvPr id="52" name="t-104"/>
          <p:cNvSpPr txBox="1"/>
          <p:nvPr/>
        </p:nvSpPr>
        <p:spPr>
          <a:xfrm>
            <a:off x="6236208" y="5079492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1,2%</a:t>
            </a:r>
            <a:endParaRPr lang="en-US" sz="950" dirty="0"/>
          </a:p>
        </p:txBody>
      </p:sp>
      <p:sp>
        <p:nvSpPr>
          <p:cNvPr id="53" name="t-105"/>
          <p:cNvSpPr txBox="1"/>
          <p:nvPr/>
        </p:nvSpPr>
        <p:spPr>
          <a:xfrm>
            <a:off x="6830568" y="5079492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Itaú Soberano RF Simples</a:t>
            </a:r>
            <a:endParaRPr lang="en-US" sz="950" dirty="0"/>
          </a:p>
        </p:txBody>
      </p:sp>
      <p:sp>
        <p:nvSpPr>
          <p:cNvPr id="54" name="t-106"/>
          <p:cNvSpPr txBox="1"/>
          <p:nvPr/>
        </p:nvSpPr>
        <p:spPr>
          <a:xfrm>
            <a:off x="8430768" y="5079492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1,2%</a:t>
            </a:r>
            <a:endParaRPr lang="en-US" sz="950" dirty="0"/>
          </a:p>
        </p:txBody>
      </p:sp>
      <p:sp>
        <p:nvSpPr>
          <p:cNvPr id="55" name="t-107"/>
          <p:cNvSpPr txBox="1"/>
          <p:nvPr/>
        </p:nvSpPr>
        <p:spPr>
          <a:xfrm>
            <a:off x="4636008" y="5266944"/>
            <a:ext cx="42976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+ 2 outras posições somando 0,3%</a:t>
            </a:r>
            <a:endParaRPr lang="en-US" sz="900" dirty="0"/>
          </a:p>
        </p:txBody>
      </p:sp>
      <p:sp>
        <p:nvSpPr>
          <p:cNvPr id="56" name="ln-108"/>
          <p:cNvSpPr/>
          <p:nvPr/>
        </p:nvSpPr>
        <p:spPr>
          <a:xfrm>
            <a:off x="2057400" y="3909060"/>
            <a:ext cx="169164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57" name="ln-109"/>
          <p:cNvSpPr/>
          <p:nvPr/>
        </p:nvSpPr>
        <p:spPr>
          <a:xfrm>
            <a:off x="2226564" y="3131820"/>
            <a:ext cx="0" cy="77724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58" name="ln-110"/>
          <p:cNvSpPr/>
          <p:nvPr/>
        </p:nvSpPr>
        <p:spPr>
          <a:xfrm>
            <a:off x="2226564" y="3131820"/>
            <a:ext cx="169164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59" name="ln-111"/>
          <p:cNvSpPr/>
          <p:nvPr/>
        </p:nvSpPr>
        <p:spPr>
          <a:xfrm>
            <a:off x="2057400" y="3909060"/>
            <a:ext cx="169164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60" name="ln-112"/>
          <p:cNvSpPr/>
          <p:nvPr/>
        </p:nvSpPr>
        <p:spPr>
          <a:xfrm>
            <a:off x="2226564" y="3909060"/>
            <a:ext cx="169164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61" name="ln-113"/>
          <p:cNvSpPr/>
          <p:nvPr/>
        </p:nvSpPr>
        <p:spPr>
          <a:xfrm>
            <a:off x="2057400" y="3909060"/>
            <a:ext cx="169164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62" name="ln-114"/>
          <p:cNvSpPr/>
          <p:nvPr/>
        </p:nvSpPr>
        <p:spPr>
          <a:xfrm>
            <a:off x="2226564" y="3909060"/>
            <a:ext cx="0" cy="77724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63" name="ln-115"/>
          <p:cNvSpPr/>
          <p:nvPr/>
        </p:nvSpPr>
        <p:spPr>
          <a:xfrm>
            <a:off x="2226564" y="4686300"/>
            <a:ext cx="169164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64" name="ln-116"/>
          <p:cNvSpPr/>
          <p:nvPr/>
        </p:nvSpPr>
        <p:spPr>
          <a:xfrm>
            <a:off x="4133088" y="3131820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65" name="ln-117"/>
          <p:cNvSpPr/>
          <p:nvPr/>
        </p:nvSpPr>
        <p:spPr>
          <a:xfrm>
            <a:off x="4315968" y="3131820"/>
            <a:ext cx="0" cy="9144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66" name="ln-118"/>
          <p:cNvSpPr/>
          <p:nvPr/>
        </p:nvSpPr>
        <p:spPr>
          <a:xfrm>
            <a:off x="4315968" y="3223260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67" name="ln-119"/>
          <p:cNvSpPr/>
          <p:nvPr/>
        </p:nvSpPr>
        <p:spPr>
          <a:xfrm>
            <a:off x="4133088" y="3909060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68" name="ln-120"/>
          <p:cNvSpPr/>
          <p:nvPr/>
        </p:nvSpPr>
        <p:spPr>
          <a:xfrm>
            <a:off x="4315968" y="3223260"/>
            <a:ext cx="0" cy="68580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69" name="ln-121"/>
          <p:cNvSpPr/>
          <p:nvPr/>
        </p:nvSpPr>
        <p:spPr>
          <a:xfrm>
            <a:off x="4315968" y="3223260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70" name="ln-122"/>
          <p:cNvSpPr/>
          <p:nvPr/>
        </p:nvSpPr>
        <p:spPr>
          <a:xfrm>
            <a:off x="4133088" y="4686300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71" name="ln-123"/>
          <p:cNvSpPr/>
          <p:nvPr/>
        </p:nvSpPr>
        <p:spPr>
          <a:xfrm>
            <a:off x="4315968" y="4686300"/>
            <a:ext cx="0" cy="283464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72" name="ln-124"/>
          <p:cNvSpPr/>
          <p:nvPr/>
        </p:nvSpPr>
        <p:spPr>
          <a:xfrm>
            <a:off x="4315968" y="4969764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73" name="box-125"/>
          <p:cNvSpPr/>
          <p:nvPr/>
        </p:nvSpPr>
        <p:spPr>
          <a:xfrm>
            <a:off x="457200" y="3223260"/>
            <a:ext cx="1600200" cy="1371600"/>
          </a:xfrm>
          <a:prstGeom prst="roundRect">
            <a:avLst>
              <a:gd name="adj" fmla="val 4000"/>
            </a:avLst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sp>
        <p:nvSpPr>
          <p:cNvPr id="74" name="t-126"/>
          <p:cNvSpPr txBox="1"/>
          <p:nvPr/>
        </p:nvSpPr>
        <p:spPr>
          <a:xfrm>
            <a:off x="566928" y="3314700"/>
            <a:ext cx="1380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Brave 90 FIC FIDC</a:t>
            </a: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R$ 1,61 bi</a:t>
            </a:r>
            <a:endParaRPr lang="en-US" sz="1000" dirty="0"/>
          </a:p>
        </p:txBody>
      </p:sp>
      <p:sp>
        <p:nvSpPr>
          <p:cNvPr id="75" name="box-127"/>
          <p:cNvSpPr/>
          <p:nvPr/>
        </p:nvSpPr>
        <p:spPr>
          <a:xfrm>
            <a:off x="2395728" y="285750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A8823F"/>
            </a:solidFill>
            <a:prstDash val="solid"/>
          </a:ln>
        </p:spPr>
      </p:sp>
      <p:sp>
        <p:nvSpPr>
          <p:cNvPr id="76" name="t-128"/>
          <p:cNvSpPr txBox="1"/>
          <p:nvPr/>
        </p:nvSpPr>
        <p:spPr>
          <a:xfrm>
            <a:off x="2487168" y="28940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FIDC Sênior</a:t>
            </a:r>
            <a:endParaRPr lang="en-US" sz="1000" dirty="0"/>
          </a:p>
        </p:txBody>
      </p:sp>
      <p:sp>
        <p:nvSpPr>
          <p:cNvPr id="77" name="t-129"/>
          <p:cNvSpPr txBox="1"/>
          <p:nvPr/>
        </p:nvSpPr>
        <p:spPr>
          <a:xfrm>
            <a:off x="2487168" y="31135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79%</a:t>
            </a:r>
            <a:endParaRPr lang="en-US" sz="1400" dirty="0"/>
          </a:p>
        </p:txBody>
      </p:sp>
      <p:sp>
        <p:nvSpPr>
          <p:cNvPr id="78" name="box-130"/>
          <p:cNvSpPr/>
          <p:nvPr/>
        </p:nvSpPr>
        <p:spPr>
          <a:xfrm>
            <a:off x="2395728" y="363474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A8823F"/>
            </a:solidFill>
            <a:prstDash val="solid"/>
          </a:ln>
        </p:spPr>
      </p:sp>
      <p:sp>
        <p:nvSpPr>
          <p:cNvPr id="79" name="t-131"/>
          <p:cNvSpPr txBox="1"/>
          <p:nvPr/>
        </p:nvSpPr>
        <p:spPr>
          <a:xfrm>
            <a:off x="2487168" y="36713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FIDC Mezanino</a:t>
            </a:r>
            <a:endParaRPr lang="en-US" sz="1000" dirty="0"/>
          </a:p>
        </p:txBody>
      </p:sp>
      <p:sp>
        <p:nvSpPr>
          <p:cNvPr id="80" name="t-132"/>
          <p:cNvSpPr txBox="1"/>
          <p:nvPr/>
        </p:nvSpPr>
        <p:spPr>
          <a:xfrm>
            <a:off x="2487168" y="38907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8%</a:t>
            </a:r>
            <a:endParaRPr lang="en-US" sz="1400" dirty="0"/>
          </a:p>
        </p:txBody>
      </p:sp>
      <p:sp>
        <p:nvSpPr>
          <p:cNvPr id="81" name="box-133"/>
          <p:cNvSpPr/>
          <p:nvPr/>
        </p:nvSpPr>
        <p:spPr>
          <a:xfrm>
            <a:off x="2395728" y="441198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A8823F"/>
            </a:solidFill>
            <a:prstDash val="solid"/>
          </a:ln>
        </p:spPr>
      </p:sp>
      <p:sp>
        <p:nvSpPr>
          <p:cNvPr id="82" name="t-134"/>
          <p:cNvSpPr txBox="1"/>
          <p:nvPr/>
        </p:nvSpPr>
        <p:spPr>
          <a:xfrm>
            <a:off x="2487168" y="44485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Caixa*</a:t>
            </a:r>
            <a:endParaRPr lang="en-US" sz="1000" dirty="0"/>
          </a:p>
        </p:txBody>
      </p:sp>
      <p:sp>
        <p:nvSpPr>
          <p:cNvPr id="83" name="t-135"/>
          <p:cNvSpPr txBox="1"/>
          <p:nvPr/>
        </p:nvSpPr>
        <p:spPr>
          <a:xfrm>
            <a:off x="2487168" y="46680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12%</a:t>
            </a:r>
            <a:endParaRPr lang="en-US" sz="1400" dirty="0"/>
          </a:p>
        </p:txBody>
      </p:sp>
      <p:sp>
        <p:nvSpPr>
          <p:cNvPr id="84" name="ln-136"/>
          <p:cNvSpPr/>
          <p:nvPr/>
        </p:nvSpPr>
        <p:spPr>
          <a:xfrm>
            <a:off x="9070848" y="3223260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85" name="ln-137"/>
          <p:cNvSpPr/>
          <p:nvPr/>
        </p:nvSpPr>
        <p:spPr>
          <a:xfrm>
            <a:off x="9253728" y="3223260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86" name="box-138"/>
          <p:cNvSpPr/>
          <p:nvPr/>
        </p:nvSpPr>
        <p:spPr>
          <a:xfrm>
            <a:off x="9436608" y="1645920"/>
            <a:ext cx="2304288" cy="3456432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9C7A3"/>
            </a:solidFill>
            <a:prstDash val="solid"/>
          </a:ln>
        </p:spPr>
      </p:sp>
      <p:sp>
        <p:nvSpPr>
          <p:cNvPr id="87" name="t-139"/>
          <p:cNvSpPr txBox="1"/>
          <p:nvPr/>
        </p:nvSpPr>
        <p:spPr>
          <a:xfrm>
            <a:off x="9546336" y="171907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Recebíveis · % do PL do fundo</a:t>
            </a:r>
            <a:endParaRPr lang="en-US" sz="950" dirty="0"/>
          </a:p>
        </p:txBody>
      </p:sp>
      <p:sp>
        <p:nvSpPr>
          <p:cNvPr id="88" name="t-140"/>
          <p:cNvSpPr txBox="1"/>
          <p:nvPr/>
        </p:nvSpPr>
        <p:spPr>
          <a:xfrm>
            <a:off x="9546336" y="2029968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Crédito pessoal e corp.</a:t>
            </a:r>
            <a:endParaRPr lang="en-US" sz="850" dirty="0"/>
          </a:p>
        </p:txBody>
      </p:sp>
      <p:sp>
        <p:nvSpPr>
          <p:cNvPr id="89" name="bar-141"/>
          <p:cNvSpPr/>
          <p:nvPr/>
        </p:nvSpPr>
        <p:spPr>
          <a:xfrm>
            <a:off x="9546336" y="2176272"/>
            <a:ext cx="1435608" cy="82296"/>
          </a:xfrm>
          <a:prstGeom prst="rect">
            <a:avLst/>
          </a:prstGeom>
          <a:solidFill>
            <a:srgbClr val="A8823F"/>
          </a:solidFill>
          <a:ln/>
        </p:spPr>
      </p:sp>
      <p:sp>
        <p:nvSpPr>
          <p:cNvPr id="90" name="t-142"/>
          <p:cNvSpPr txBox="1"/>
          <p:nvPr/>
        </p:nvSpPr>
        <p:spPr>
          <a:xfrm>
            <a:off x="11119104" y="209397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35,0%</a:t>
            </a:r>
            <a:endParaRPr lang="en-US" sz="850" dirty="0"/>
          </a:p>
        </p:txBody>
      </p:sp>
      <p:sp>
        <p:nvSpPr>
          <p:cNvPr id="91" name="t-143"/>
          <p:cNvSpPr txBox="1"/>
          <p:nvPr/>
        </p:nvSpPr>
        <p:spPr>
          <a:xfrm>
            <a:off x="9546336" y="2304288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Comércio/varejo</a:t>
            </a:r>
            <a:endParaRPr lang="en-US" sz="850" dirty="0"/>
          </a:p>
        </p:txBody>
      </p:sp>
      <p:sp>
        <p:nvSpPr>
          <p:cNvPr id="92" name="bar-144"/>
          <p:cNvSpPr/>
          <p:nvPr/>
        </p:nvSpPr>
        <p:spPr>
          <a:xfrm>
            <a:off x="9546336" y="2450592"/>
            <a:ext cx="820778" cy="82296"/>
          </a:xfrm>
          <a:prstGeom prst="rect">
            <a:avLst/>
          </a:prstGeom>
          <a:solidFill>
            <a:srgbClr val="A8823F"/>
          </a:solidFill>
          <a:ln/>
        </p:spPr>
      </p:sp>
      <p:sp>
        <p:nvSpPr>
          <p:cNvPr id="93" name="t-145"/>
          <p:cNvSpPr txBox="1"/>
          <p:nvPr/>
        </p:nvSpPr>
        <p:spPr>
          <a:xfrm>
            <a:off x="11119104" y="236829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20,0%</a:t>
            </a:r>
            <a:endParaRPr lang="en-US" sz="850" dirty="0"/>
          </a:p>
        </p:txBody>
      </p:sp>
      <p:sp>
        <p:nvSpPr>
          <p:cNvPr id="94" name="t-146"/>
          <p:cNvSpPr txBox="1"/>
          <p:nvPr/>
        </p:nvSpPr>
        <p:spPr>
          <a:xfrm>
            <a:off x="9546336" y="2578608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Indústria</a:t>
            </a:r>
            <a:endParaRPr lang="en-US" sz="850" dirty="0"/>
          </a:p>
        </p:txBody>
      </p:sp>
      <p:sp>
        <p:nvSpPr>
          <p:cNvPr id="95" name="bar-147"/>
          <p:cNvSpPr/>
          <p:nvPr/>
        </p:nvSpPr>
        <p:spPr>
          <a:xfrm>
            <a:off x="9546336" y="2724912"/>
            <a:ext cx="362169" cy="82296"/>
          </a:xfrm>
          <a:prstGeom prst="rect">
            <a:avLst/>
          </a:prstGeom>
          <a:solidFill>
            <a:srgbClr val="A8823F"/>
          </a:solidFill>
          <a:ln/>
        </p:spPr>
      </p:sp>
      <p:sp>
        <p:nvSpPr>
          <p:cNvPr id="96" name="t-148"/>
          <p:cNvSpPr txBox="1"/>
          <p:nvPr/>
        </p:nvSpPr>
        <p:spPr>
          <a:xfrm>
            <a:off x="11119104" y="264261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8,8%</a:t>
            </a:r>
            <a:endParaRPr lang="en-US" sz="850" dirty="0"/>
          </a:p>
        </p:txBody>
      </p:sp>
      <p:sp>
        <p:nvSpPr>
          <p:cNvPr id="97" name="t-149"/>
          <p:cNvSpPr txBox="1"/>
          <p:nvPr/>
        </p:nvSpPr>
        <p:spPr>
          <a:xfrm>
            <a:off x="9546336" y="2852928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Serviços</a:t>
            </a:r>
            <a:endParaRPr lang="en-US" sz="850" dirty="0"/>
          </a:p>
        </p:txBody>
      </p:sp>
      <p:sp>
        <p:nvSpPr>
          <p:cNvPr id="98" name="bar-150"/>
          <p:cNvSpPr/>
          <p:nvPr/>
        </p:nvSpPr>
        <p:spPr>
          <a:xfrm>
            <a:off x="9546336" y="2999232"/>
            <a:ext cx="361870" cy="82296"/>
          </a:xfrm>
          <a:prstGeom prst="rect">
            <a:avLst/>
          </a:prstGeom>
          <a:solidFill>
            <a:srgbClr val="A8823F"/>
          </a:solidFill>
          <a:ln/>
        </p:spPr>
      </p:sp>
      <p:sp>
        <p:nvSpPr>
          <p:cNvPr id="99" name="t-151"/>
          <p:cNvSpPr txBox="1"/>
          <p:nvPr/>
        </p:nvSpPr>
        <p:spPr>
          <a:xfrm>
            <a:off x="11119104" y="291693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8,8%</a:t>
            </a:r>
            <a:endParaRPr lang="en-US" sz="850" dirty="0"/>
          </a:p>
        </p:txBody>
      </p:sp>
      <p:sp>
        <p:nvSpPr>
          <p:cNvPr id="100" name="t-152"/>
          <p:cNvSpPr txBox="1"/>
          <p:nvPr/>
        </p:nvSpPr>
        <p:spPr>
          <a:xfrm>
            <a:off x="9546336" y="3127248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Caixa dos FIDCs</a:t>
            </a:r>
            <a:endParaRPr lang="en-US" sz="850" dirty="0"/>
          </a:p>
        </p:txBody>
      </p:sp>
      <p:sp>
        <p:nvSpPr>
          <p:cNvPr id="101" name="bar-153"/>
          <p:cNvSpPr/>
          <p:nvPr/>
        </p:nvSpPr>
        <p:spPr>
          <a:xfrm>
            <a:off x="9546336" y="3273552"/>
            <a:ext cx="248399" cy="82296"/>
          </a:xfrm>
          <a:prstGeom prst="rect">
            <a:avLst/>
          </a:prstGeom>
          <a:solidFill>
            <a:srgbClr val="7A8599"/>
          </a:solidFill>
          <a:ln/>
        </p:spPr>
      </p:sp>
      <p:sp>
        <p:nvSpPr>
          <p:cNvPr id="102" name="t-154"/>
          <p:cNvSpPr txBox="1"/>
          <p:nvPr/>
        </p:nvSpPr>
        <p:spPr>
          <a:xfrm>
            <a:off x="11119104" y="31912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6,1%</a:t>
            </a:r>
            <a:endParaRPr lang="en-US" sz="850" dirty="0"/>
          </a:p>
        </p:txBody>
      </p:sp>
      <p:sp>
        <p:nvSpPr>
          <p:cNvPr id="103" name="t-155"/>
          <p:cNvSpPr txBox="1"/>
          <p:nvPr/>
        </p:nvSpPr>
        <p:spPr>
          <a:xfrm>
            <a:off x="9546336" y="3401568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Sem abertura (FIC/Fiagro)</a:t>
            </a:r>
            <a:endParaRPr lang="en-US" sz="850" dirty="0"/>
          </a:p>
        </p:txBody>
      </p:sp>
      <p:sp>
        <p:nvSpPr>
          <p:cNvPr id="104" name="bar-156"/>
          <p:cNvSpPr/>
          <p:nvPr/>
        </p:nvSpPr>
        <p:spPr>
          <a:xfrm>
            <a:off x="9546336" y="3547872"/>
            <a:ext cx="211311" cy="82296"/>
          </a:xfrm>
          <a:prstGeom prst="rect">
            <a:avLst/>
          </a:prstGeom>
          <a:solidFill>
            <a:srgbClr val="7A8599"/>
          </a:solidFill>
          <a:ln/>
        </p:spPr>
      </p:sp>
      <p:sp>
        <p:nvSpPr>
          <p:cNvPr id="105" name="t-157"/>
          <p:cNvSpPr txBox="1"/>
          <p:nvPr/>
        </p:nvSpPr>
        <p:spPr>
          <a:xfrm>
            <a:off x="11119104" y="346557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5,2%</a:t>
            </a:r>
            <a:endParaRPr lang="en-US" sz="850" dirty="0"/>
          </a:p>
        </p:txBody>
      </p:sp>
      <p:sp>
        <p:nvSpPr>
          <p:cNvPr id="106" name="t-158"/>
          <p:cNvSpPr txBox="1"/>
          <p:nvPr/>
        </p:nvSpPr>
        <p:spPr>
          <a:xfrm>
            <a:off x="9546336" y="3675888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Crédito consignado</a:t>
            </a:r>
            <a:endParaRPr lang="en-US" sz="850" dirty="0"/>
          </a:p>
        </p:txBody>
      </p:sp>
      <p:sp>
        <p:nvSpPr>
          <p:cNvPr id="107" name="bar-159"/>
          <p:cNvSpPr/>
          <p:nvPr/>
        </p:nvSpPr>
        <p:spPr>
          <a:xfrm>
            <a:off x="9546336" y="3822192"/>
            <a:ext cx="124176" cy="82296"/>
          </a:xfrm>
          <a:prstGeom prst="rect">
            <a:avLst/>
          </a:prstGeom>
          <a:solidFill>
            <a:srgbClr val="A8823F"/>
          </a:solidFill>
          <a:ln/>
        </p:spPr>
      </p:sp>
      <p:sp>
        <p:nvSpPr>
          <p:cNvPr id="108" name="t-160"/>
          <p:cNvSpPr txBox="1"/>
          <p:nvPr/>
        </p:nvSpPr>
        <p:spPr>
          <a:xfrm>
            <a:off x="11119104" y="373989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3,0%</a:t>
            </a:r>
            <a:endParaRPr lang="en-US" sz="850" dirty="0"/>
          </a:p>
        </p:txBody>
      </p:sp>
      <p:sp>
        <p:nvSpPr>
          <p:cNvPr id="109" name="t-161"/>
          <p:cNvSpPr txBox="1"/>
          <p:nvPr/>
        </p:nvSpPr>
        <p:spPr>
          <a:xfrm>
            <a:off x="9546336" y="3950208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Imobiliário</a:t>
            </a:r>
            <a:endParaRPr lang="en-US" sz="850" dirty="0"/>
          </a:p>
        </p:txBody>
      </p:sp>
      <p:sp>
        <p:nvSpPr>
          <p:cNvPr id="110" name="bar-162"/>
          <p:cNvSpPr/>
          <p:nvPr/>
        </p:nvSpPr>
        <p:spPr>
          <a:xfrm>
            <a:off x="9546336" y="4096512"/>
            <a:ext cx="35764" cy="82296"/>
          </a:xfrm>
          <a:prstGeom prst="rect">
            <a:avLst/>
          </a:prstGeom>
          <a:solidFill>
            <a:srgbClr val="A8823F"/>
          </a:solidFill>
          <a:ln/>
        </p:spPr>
      </p:sp>
      <p:sp>
        <p:nvSpPr>
          <p:cNvPr id="111" name="t-163"/>
          <p:cNvSpPr txBox="1"/>
          <p:nvPr/>
        </p:nvSpPr>
        <p:spPr>
          <a:xfrm>
            <a:off x="11119104" y="401421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0,9%</a:t>
            </a:r>
            <a:endParaRPr lang="en-US" sz="850" dirty="0"/>
          </a:p>
        </p:txBody>
      </p:sp>
      <p:sp>
        <p:nvSpPr>
          <p:cNvPr id="112" name="t-164"/>
          <p:cNvSpPr txBox="1"/>
          <p:nvPr/>
        </p:nvSpPr>
        <p:spPr>
          <a:xfrm>
            <a:off x="9546336" y="4224528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Agronegócio</a:t>
            </a:r>
            <a:endParaRPr lang="en-US" sz="850" dirty="0"/>
          </a:p>
        </p:txBody>
      </p:sp>
      <p:sp>
        <p:nvSpPr>
          <p:cNvPr id="113" name="bar-165"/>
          <p:cNvSpPr/>
          <p:nvPr/>
        </p:nvSpPr>
        <p:spPr>
          <a:xfrm>
            <a:off x="9546336" y="4370832"/>
            <a:ext cx="27432" cy="82296"/>
          </a:xfrm>
          <a:prstGeom prst="rect">
            <a:avLst/>
          </a:prstGeom>
          <a:solidFill>
            <a:srgbClr val="A8823F"/>
          </a:solidFill>
          <a:ln/>
        </p:spPr>
      </p:sp>
      <p:sp>
        <p:nvSpPr>
          <p:cNvPr id="114" name="t-166"/>
          <p:cNvSpPr txBox="1"/>
          <p:nvPr/>
        </p:nvSpPr>
        <p:spPr>
          <a:xfrm>
            <a:off x="11119104" y="428853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0,4%</a:t>
            </a:r>
            <a:endParaRPr lang="en-US" sz="850" dirty="0"/>
          </a:p>
        </p:txBody>
      </p:sp>
      <p:sp>
        <p:nvSpPr>
          <p:cNvPr id="115" name="t-167"/>
          <p:cNvSpPr txBox="1"/>
          <p:nvPr/>
        </p:nvSpPr>
        <p:spPr>
          <a:xfrm>
            <a:off x="9546336" y="4535424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chemeClr val="accent4"/>
                </a:solidFill>
              </a:rPr>
              <a:t>Rateio pela carteira de cada FIDC (Informe Mensal CVM). Não separa sênior/mezanino. “Crédito pessoal e corp.” inclui outros créditos financeiros.</a:t>
            </a:r>
            <a:endParaRPr lang="en-US" sz="800" dirty="0"/>
          </a:p>
        </p:txBody>
      </p:sp>
      <p:sp>
        <p:nvSpPr>
          <p:cNvPr id="116" name="t-168"/>
          <p:cNvSpPr txBox="1"/>
          <p:nvPr/>
        </p:nvSpPr>
        <p:spPr>
          <a:xfrm>
            <a:off x="457200" y="63276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4"/>
                </a:solidFill>
              </a:rPr>
              <a:t>Classes: lâmina set/26 · Ativos: CDA CVM 31/08/2026 · Lastro: Informe Mensal FIDC CVM 08/2026  ·  *Caixa = zeragem e títulos públicos (nota da lâmina). % do nível 2 = lâmina set/26; % dos níveis 3–4 = data-base CVM indicada.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Brave 180 XP</a:t>
            </a:r>
            <a:endParaRPr lang="en-US" sz="3000" dirty="0"/>
          </a:p>
        </p:txBody>
      </p:sp>
      <p:sp>
        <p:nvSpPr>
          <p:cNvPr id="3" name="t-169"/>
          <p:cNvSpPr txBox="1"/>
          <p:nvPr/>
        </p:nvSpPr>
        <p:spPr>
          <a:xfrm>
            <a:off x="457200" y="84124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CNPJ 63.762.704/0001-11  ·  PL R$ 51,3 mi (lâmina set/26)  ·  Resgate D+181</a:t>
            </a:r>
            <a:endParaRPr lang="en-US" sz="1100" dirty="0"/>
          </a:p>
        </p:txBody>
      </p:sp>
      <p:sp>
        <p:nvSpPr>
          <p:cNvPr id="4" name="t-170"/>
          <p:cNvSpPr txBox="1"/>
          <p:nvPr/>
        </p:nvSpPr>
        <p:spPr>
          <a:xfrm>
            <a:off x="457200" y="12984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1  </a:t>
            </a:r>
            <a:pPr indent="0" marL="0">
              <a:buNone/>
            </a:pPr>
            <a:r>
              <a:rPr lang="en-US" sz="950" b="1" spc="100" kern="0" dirty="0">
                <a:solidFill>
                  <a:schemeClr val="accent2"/>
                </a:solidFill>
              </a:rPr>
              <a:t>FUNDO</a:t>
            </a:r>
            <a:endParaRPr lang="en-US" sz="950" dirty="0"/>
          </a:p>
        </p:txBody>
      </p:sp>
      <p:sp>
        <p:nvSpPr>
          <p:cNvPr id="5" name="t-171"/>
          <p:cNvSpPr txBox="1"/>
          <p:nvPr/>
        </p:nvSpPr>
        <p:spPr>
          <a:xfrm>
            <a:off x="2395728" y="12984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2  </a:t>
            </a:r>
            <a:pPr indent="0" marL="0">
              <a:buNone/>
            </a:pPr>
            <a:r>
              <a:rPr lang="en-US" sz="950" b="1" spc="100" kern="0" dirty="0">
                <a:solidFill>
                  <a:schemeClr val="accent2"/>
                </a:solidFill>
              </a:rPr>
              <a:t>CLASSES · lâmina</a:t>
            </a:r>
            <a:endParaRPr lang="en-US" sz="950" dirty="0"/>
          </a:p>
        </p:txBody>
      </p:sp>
      <p:sp>
        <p:nvSpPr>
          <p:cNvPr id="6" name="t-172"/>
          <p:cNvSpPr txBox="1"/>
          <p:nvPr/>
        </p:nvSpPr>
        <p:spPr>
          <a:xfrm>
            <a:off x="4498848" y="12984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3  </a:t>
            </a:r>
            <a:pPr indent="0" marL="0">
              <a:buNone/>
            </a:pPr>
            <a:r>
              <a:rPr lang="en-US" sz="950" b="1" spc="100" kern="0" dirty="0">
                <a:solidFill>
                  <a:schemeClr val="accent2"/>
                </a:solidFill>
              </a:rPr>
              <a:t>ATIVOS · CVM</a:t>
            </a:r>
            <a:endParaRPr lang="en-US" sz="950" dirty="0"/>
          </a:p>
        </p:txBody>
      </p:sp>
      <p:sp>
        <p:nvSpPr>
          <p:cNvPr id="7" name="t-173"/>
          <p:cNvSpPr txBox="1"/>
          <p:nvPr/>
        </p:nvSpPr>
        <p:spPr>
          <a:xfrm>
            <a:off x="9436608" y="129844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4  </a:t>
            </a:r>
            <a:pPr indent="0" marL="0">
              <a:buNone/>
            </a:pPr>
            <a:r>
              <a:rPr lang="en-US" sz="950" b="1" spc="100" kern="0" dirty="0">
                <a:solidFill>
                  <a:schemeClr val="accent2"/>
                </a:solidFill>
              </a:rPr>
              <a:t>LASTRO DOS FIDCs</a:t>
            </a:r>
            <a:endParaRPr lang="en-US" sz="950" dirty="0"/>
          </a:p>
        </p:txBody>
      </p:sp>
      <p:sp>
        <p:nvSpPr>
          <p:cNvPr id="8" name="box-174"/>
          <p:cNvSpPr/>
          <p:nvPr/>
        </p:nvSpPr>
        <p:spPr>
          <a:xfrm>
            <a:off x="4498848" y="2553462"/>
            <a:ext cx="4572000" cy="1901952"/>
          </a:xfrm>
          <a:prstGeom prst="roundRect">
            <a:avLst>
              <a:gd name="adj" fmla="val 2885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9" name="t-175"/>
          <p:cNvSpPr txBox="1"/>
          <p:nvPr/>
        </p:nvSpPr>
        <p:spPr>
          <a:xfrm>
            <a:off x="4636008" y="260832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FIDCs investidos</a:t>
            </a:r>
            <a:pPr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   32 posições</a:t>
            </a:r>
            <a:endParaRPr lang="en-US" sz="1150" dirty="0"/>
          </a:p>
        </p:txBody>
      </p:sp>
      <p:sp>
        <p:nvSpPr>
          <p:cNvPr id="10" name="t-176"/>
          <p:cNvSpPr txBox="1"/>
          <p:nvPr/>
        </p:nvSpPr>
        <p:spPr>
          <a:xfrm>
            <a:off x="8019288" y="259003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94,3%</a:t>
            </a:r>
            <a:endParaRPr lang="en-US" sz="1400" dirty="0"/>
          </a:p>
        </p:txBody>
      </p:sp>
      <p:sp>
        <p:nvSpPr>
          <p:cNvPr id="11" name="t-177"/>
          <p:cNvSpPr txBox="1"/>
          <p:nvPr/>
        </p:nvSpPr>
        <p:spPr>
          <a:xfrm>
            <a:off x="4636008" y="2864358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Empresarial</a:t>
            </a:r>
            <a:endParaRPr lang="en-US" sz="950" dirty="0"/>
          </a:p>
        </p:txBody>
      </p:sp>
      <p:sp>
        <p:nvSpPr>
          <p:cNvPr id="12" name="t-178"/>
          <p:cNvSpPr txBox="1"/>
          <p:nvPr/>
        </p:nvSpPr>
        <p:spPr>
          <a:xfrm>
            <a:off x="6236208" y="2864358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8,8%</a:t>
            </a:r>
            <a:endParaRPr lang="en-US" sz="950" dirty="0"/>
          </a:p>
        </p:txBody>
      </p:sp>
      <p:sp>
        <p:nvSpPr>
          <p:cNvPr id="13" name="t-179"/>
          <p:cNvSpPr txBox="1"/>
          <p:nvPr/>
        </p:nvSpPr>
        <p:spPr>
          <a:xfrm>
            <a:off x="6830568" y="2864358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RED Multisetorial</a:t>
            </a:r>
            <a:endParaRPr lang="en-US" sz="950" dirty="0"/>
          </a:p>
        </p:txBody>
      </p:sp>
      <p:sp>
        <p:nvSpPr>
          <p:cNvPr id="14" name="t-180"/>
          <p:cNvSpPr txBox="1"/>
          <p:nvPr/>
        </p:nvSpPr>
        <p:spPr>
          <a:xfrm>
            <a:off x="8430768" y="2864358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7,0%</a:t>
            </a:r>
            <a:endParaRPr lang="en-US" sz="950" dirty="0"/>
          </a:p>
        </p:txBody>
      </p:sp>
      <p:sp>
        <p:nvSpPr>
          <p:cNvPr id="15" name="t-181"/>
          <p:cNvSpPr txBox="1"/>
          <p:nvPr/>
        </p:nvSpPr>
        <p:spPr>
          <a:xfrm>
            <a:off x="4636008" y="3051810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Harpia</a:t>
            </a:r>
            <a:endParaRPr lang="en-US" sz="950" dirty="0"/>
          </a:p>
        </p:txBody>
      </p:sp>
      <p:sp>
        <p:nvSpPr>
          <p:cNvPr id="16" name="t-182"/>
          <p:cNvSpPr txBox="1"/>
          <p:nvPr/>
        </p:nvSpPr>
        <p:spPr>
          <a:xfrm>
            <a:off x="6236208" y="3051810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5,3%</a:t>
            </a:r>
            <a:endParaRPr lang="en-US" sz="950" dirty="0"/>
          </a:p>
        </p:txBody>
      </p:sp>
      <p:sp>
        <p:nvSpPr>
          <p:cNvPr id="17" name="t-183"/>
          <p:cNvSpPr txBox="1"/>
          <p:nvPr/>
        </p:nvSpPr>
        <p:spPr>
          <a:xfrm>
            <a:off x="6830568" y="3051810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Del Monte</a:t>
            </a:r>
            <a:endParaRPr lang="en-US" sz="950" dirty="0"/>
          </a:p>
        </p:txBody>
      </p:sp>
      <p:sp>
        <p:nvSpPr>
          <p:cNvPr id="18" name="t-184"/>
          <p:cNvSpPr txBox="1"/>
          <p:nvPr/>
        </p:nvSpPr>
        <p:spPr>
          <a:xfrm>
            <a:off x="8430768" y="3051810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5,1%</a:t>
            </a:r>
            <a:endParaRPr lang="en-US" sz="950" dirty="0"/>
          </a:p>
        </p:txBody>
      </p:sp>
      <p:sp>
        <p:nvSpPr>
          <p:cNvPr id="19" name="t-185"/>
          <p:cNvSpPr txBox="1"/>
          <p:nvPr/>
        </p:nvSpPr>
        <p:spPr>
          <a:xfrm>
            <a:off x="4636008" y="3239262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RED Real</a:t>
            </a:r>
            <a:endParaRPr lang="en-US" sz="950" dirty="0"/>
          </a:p>
        </p:txBody>
      </p:sp>
      <p:sp>
        <p:nvSpPr>
          <p:cNvPr id="20" name="t-186"/>
          <p:cNvSpPr txBox="1"/>
          <p:nvPr/>
        </p:nvSpPr>
        <p:spPr>
          <a:xfrm>
            <a:off x="6236208" y="3239262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4,9%</a:t>
            </a:r>
            <a:endParaRPr lang="en-US" sz="950" dirty="0"/>
          </a:p>
        </p:txBody>
      </p:sp>
      <p:sp>
        <p:nvSpPr>
          <p:cNvPr id="21" name="t-187"/>
          <p:cNvSpPr txBox="1"/>
          <p:nvPr/>
        </p:nvSpPr>
        <p:spPr>
          <a:xfrm>
            <a:off x="6830568" y="3239262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FIDC CNPJ 54.326.936</a:t>
            </a:r>
            <a:endParaRPr lang="en-US" sz="950" dirty="0"/>
          </a:p>
        </p:txBody>
      </p:sp>
      <p:sp>
        <p:nvSpPr>
          <p:cNvPr id="22" name="t-188"/>
          <p:cNvSpPr txBox="1"/>
          <p:nvPr/>
        </p:nvSpPr>
        <p:spPr>
          <a:xfrm>
            <a:off x="8430768" y="3239262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4,7%</a:t>
            </a:r>
            <a:endParaRPr lang="en-US" sz="950" dirty="0"/>
          </a:p>
        </p:txBody>
      </p:sp>
      <p:sp>
        <p:nvSpPr>
          <p:cNvPr id="23" name="t-189"/>
          <p:cNvSpPr txBox="1"/>
          <p:nvPr/>
        </p:nvSpPr>
        <p:spPr>
          <a:xfrm>
            <a:off x="4636008" y="3426714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Futuro Previdência Consig.</a:t>
            </a:r>
            <a:endParaRPr lang="en-US" sz="950" dirty="0"/>
          </a:p>
        </p:txBody>
      </p:sp>
      <p:sp>
        <p:nvSpPr>
          <p:cNvPr id="24" name="t-190"/>
          <p:cNvSpPr txBox="1"/>
          <p:nvPr/>
        </p:nvSpPr>
        <p:spPr>
          <a:xfrm>
            <a:off x="6236208" y="3426714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4,6%</a:t>
            </a:r>
            <a:endParaRPr lang="en-US" sz="950" dirty="0"/>
          </a:p>
        </p:txBody>
      </p:sp>
      <p:sp>
        <p:nvSpPr>
          <p:cNvPr id="25" name="t-191"/>
          <p:cNvSpPr txBox="1"/>
          <p:nvPr/>
        </p:nvSpPr>
        <p:spPr>
          <a:xfrm>
            <a:off x="6830568" y="3426714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Lotus Performance</a:t>
            </a:r>
            <a:endParaRPr lang="en-US" sz="950" dirty="0"/>
          </a:p>
        </p:txBody>
      </p:sp>
      <p:sp>
        <p:nvSpPr>
          <p:cNvPr id="26" name="t-192"/>
          <p:cNvSpPr txBox="1"/>
          <p:nvPr/>
        </p:nvSpPr>
        <p:spPr>
          <a:xfrm>
            <a:off x="8430768" y="3426714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4,5%</a:t>
            </a:r>
            <a:endParaRPr lang="en-US" sz="950" dirty="0"/>
          </a:p>
        </p:txBody>
      </p:sp>
      <p:sp>
        <p:nvSpPr>
          <p:cNvPr id="27" name="t-193"/>
          <p:cNvSpPr txBox="1"/>
          <p:nvPr/>
        </p:nvSpPr>
        <p:spPr>
          <a:xfrm>
            <a:off x="4636008" y="3614166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Olam</a:t>
            </a:r>
            <a:endParaRPr lang="en-US" sz="950" dirty="0"/>
          </a:p>
        </p:txBody>
      </p:sp>
      <p:sp>
        <p:nvSpPr>
          <p:cNvPr id="28" name="t-194"/>
          <p:cNvSpPr txBox="1"/>
          <p:nvPr/>
        </p:nvSpPr>
        <p:spPr>
          <a:xfrm>
            <a:off x="6236208" y="3614166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4,4%</a:t>
            </a:r>
            <a:endParaRPr lang="en-US" sz="950" dirty="0"/>
          </a:p>
        </p:txBody>
      </p:sp>
      <p:sp>
        <p:nvSpPr>
          <p:cNvPr id="29" name="t-195"/>
          <p:cNvSpPr txBox="1"/>
          <p:nvPr/>
        </p:nvSpPr>
        <p:spPr>
          <a:xfrm>
            <a:off x="6830568" y="3614166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Agro Defender</a:t>
            </a:r>
            <a:endParaRPr lang="en-US" sz="950" dirty="0"/>
          </a:p>
        </p:txBody>
      </p:sp>
      <p:sp>
        <p:nvSpPr>
          <p:cNvPr id="30" name="t-196"/>
          <p:cNvSpPr txBox="1"/>
          <p:nvPr/>
        </p:nvSpPr>
        <p:spPr>
          <a:xfrm>
            <a:off x="8430768" y="3614166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4,1%</a:t>
            </a:r>
            <a:endParaRPr lang="en-US" sz="950" dirty="0"/>
          </a:p>
        </p:txBody>
      </p:sp>
      <p:sp>
        <p:nvSpPr>
          <p:cNvPr id="31" name="t-197"/>
          <p:cNvSpPr txBox="1"/>
          <p:nvPr/>
        </p:nvSpPr>
        <p:spPr>
          <a:xfrm>
            <a:off x="4636008" y="3801618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Hope I</a:t>
            </a:r>
            <a:endParaRPr lang="en-US" sz="950" dirty="0"/>
          </a:p>
        </p:txBody>
      </p:sp>
      <p:sp>
        <p:nvSpPr>
          <p:cNvPr id="32" name="t-198"/>
          <p:cNvSpPr txBox="1"/>
          <p:nvPr/>
        </p:nvSpPr>
        <p:spPr>
          <a:xfrm>
            <a:off x="6236208" y="3801618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3,8%</a:t>
            </a:r>
            <a:endParaRPr lang="en-US" sz="950" dirty="0"/>
          </a:p>
        </p:txBody>
      </p:sp>
      <p:sp>
        <p:nvSpPr>
          <p:cNvPr id="33" name="t-199"/>
          <p:cNvSpPr txBox="1"/>
          <p:nvPr/>
        </p:nvSpPr>
        <p:spPr>
          <a:xfrm>
            <a:off x="6830568" y="3801618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Sifra Plus</a:t>
            </a:r>
            <a:endParaRPr lang="en-US" sz="950" dirty="0"/>
          </a:p>
        </p:txBody>
      </p:sp>
      <p:sp>
        <p:nvSpPr>
          <p:cNvPr id="34" name="t-200"/>
          <p:cNvSpPr txBox="1"/>
          <p:nvPr/>
        </p:nvSpPr>
        <p:spPr>
          <a:xfrm>
            <a:off x="8430768" y="3801618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3,4%</a:t>
            </a:r>
            <a:endParaRPr lang="en-US" sz="950" dirty="0"/>
          </a:p>
        </p:txBody>
      </p:sp>
      <p:sp>
        <p:nvSpPr>
          <p:cNvPr id="35" name="t-201"/>
          <p:cNvSpPr txBox="1"/>
          <p:nvPr/>
        </p:nvSpPr>
        <p:spPr>
          <a:xfrm>
            <a:off x="4636008" y="3989070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The One</a:t>
            </a:r>
            <a:endParaRPr lang="en-US" sz="950" dirty="0"/>
          </a:p>
        </p:txBody>
      </p:sp>
      <p:sp>
        <p:nvSpPr>
          <p:cNvPr id="36" name="t-202"/>
          <p:cNvSpPr txBox="1"/>
          <p:nvPr/>
        </p:nvSpPr>
        <p:spPr>
          <a:xfrm>
            <a:off x="6236208" y="3989070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3,3%</a:t>
            </a:r>
            <a:endParaRPr lang="en-US" sz="950" dirty="0"/>
          </a:p>
        </p:txBody>
      </p:sp>
      <p:sp>
        <p:nvSpPr>
          <p:cNvPr id="37" name="t-203"/>
          <p:cNvSpPr txBox="1"/>
          <p:nvPr/>
        </p:nvSpPr>
        <p:spPr>
          <a:xfrm>
            <a:off x="6830568" y="3989070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Garson</a:t>
            </a:r>
            <a:endParaRPr lang="en-US" sz="950" dirty="0"/>
          </a:p>
        </p:txBody>
      </p:sp>
      <p:sp>
        <p:nvSpPr>
          <p:cNvPr id="38" name="t-204"/>
          <p:cNvSpPr txBox="1"/>
          <p:nvPr/>
        </p:nvSpPr>
        <p:spPr>
          <a:xfrm>
            <a:off x="8430768" y="3989070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3,3%</a:t>
            </a:r>
            <a:endParaRPr lang="en-US" sz="950" dirty="0"/>
          </a:p>
        </p:txBody>
      </p:sp>
      <p:sp>
        <p:nvSpPr>
          <p:cNvPr id="39" name="t-205"/>
          <p:cNvSpPr txBox="1"/>
          <p:nvPr/>
        </p:nvSpPr>
        <p:spPr>
          <a:xfrm>
            <a:off x="4636008" y="4176522"/>
            <a:ext cx="42976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+ 18 outras posições somando 27,0%</a:t>
            </a:r>
            <a:endParaRPr lang="en-US" sz="900" dirty="0"/>
          </a:p>
        </p:txBody>
      </p:sp>
      <p:sp>
        <p:nvSpPr>
          <p:cNvPr id="40" name="box-206"/>
          <p:cNvSpPr/>
          <p:nvPr/>
        </p:nvSpPr>
        <p:spPr>
          <a:xfrm>
            <a:off x="4498848" y="4674870"/>
            <a:ext cx="4572000" cy="589788"/>
          </a:xfrm>
          <a:prstGeom prst="roundRect">
            <a:avLst>
              <a:gd name="adj" fmla="val 9302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41" name="t-207"/>
          <p:cNvSpPr txBox="1"/>
          <p:nvPr/>
        </p:nvSpPr>
        <p:spPr>
          <a:xfrm>
            <a:off x="4636008" y="472973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Caixa e fundos RF</a:t>
            </a:r>
            <a:pPr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   1 posição</a:t>
            </a:r>
            <a:endParaRPr lang="en-US" sz="1150" dirty="0"/>
          </a:p>
        </p:txBody>
      </p:sp>
      <p:sp>
        <p:nvSpPr>
          <p:cNvPr id="42" name="t-208"/>
          <p:cNvSpPr txBox="1"/>
          <p:nvPr/>
        </p:nvSpPr>
        <p:spPr>
          <a:xfrm>
            <a:off x="8019288" y="471144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6,1%</a:t>
            </a:r>
            <a:endParaRPr lang="en-US" sz="1400" dirty="0"/>
          </a:p>
        </p:txBody>
      </p:sp>
      <p:sp>
        <p:nvSpPr>
          <p:cNvPr id="43" name="t-209"/>
          <p:cNvSpPr txBox="1"/>
          <p:nvPr/>
        </p:nvSpPr>
        <p:spPr>
          <a:xfrm>
            <a:off x="4636008" y="4985766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BTG Tesouro Selic</a:t>
            </a:r>
            <a:endParaRPr lang="en-US" sz="950" dirty="0"/>
          </a:p>
        </p:txBody>
      </p:sp>
      <p:sp>
        <p:nvSpPr>
          <p:cNvPr id="44" name="t-210"/>
          <p:cNvSpPr txBox="1"/>
          <p:nvPr/>
        </p:nvSpPr>
        <p:spPr>
          <a:xfrm>
            <a:off x="6236208" y="4985766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6,1%</a:t>
            </a:r>
            <a:endParaRPr lang="en-US" sz="950" dirty="0"/>
          </a:p>
        </p:txBody>
      </p:sp>
      <p:sp>
        <p:nvSpPr>
          <p:cNvPr id="45" name="ln-211"/>
          <p:cNvSpPr/>
          <p:nvPr/>
        </p:nvSpPr>
        <p:spPr>
          <a:xfrm>
            <a:off x="2057400" y="3909060"/>
            <a:ext cx="169164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46" name="ln-212"/>
          <p:cNvSpPr/>
          <p:nvPr/>
        </p:nvSpPr>
        <p:spPr>
          <a:xfrm>
            <a:off x="2226564" y="3131820"/>
            <a:ext cx="0" cy="77724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47" name="ln-213"/>
          <p:cNvSpPr/>
          <p:nvPr/>
        </p:nvSpPr>
        <p:spPr>
          <a:xfrm>
            <a:off x="2226564" y="3131820"/>
            <a:ext cx="169164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48" name="ln-214"/>
          <p:cNvSpPr/>
          <p:nvPr/>
        </p:nvSpPr>
        <p:spPr>
          <a:xfrm>
            <a:off x="2057400" y="3909060"/>
            <a:ext cx="169164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49" name="ln-215"/>
          <p:cNvSpPr/>
          <p:nvPr/>
        </p:nvSpPr>
        <p:spPr>
          <a:xfrm>
            <a:off x="2226564" y="3909060"/>
            <a:ext cx="169164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50" name="ln-216"/>
          <p:cNvSpPr/>
          <p:nvPr/>
        </p:nvSpPr>
        <p:spPr>
          <a:xfrm>
            <a:off x="2057400" y="3909060"/>
            <a:ext cx="169164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51" name="ln-217"/>
          <p:cNvSpPr/>
          <p:nvPr/>
        </p:nvSpPr>
        <p:spPr>
          <a:xfrm>
            <a:off x="2226564" y="3909060"/>
            <a:ext cx="0" cy="77724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52" name="ln-218"/>
          <p:cNvSpPr/>
          <p:nvPr/>
        </p:nvSpPr>
        <p:spPr>
          <a:xfrm>
            <a:off x="2226564" y="4686300"/>
            <a:ext cx="169164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53" name="ln-219"/>
          <p:cNvSpPr/>
          <p:nvPr/>
        </p:nvSpPr>
        <p:spPr>
          <a:xfrm>
            <a:off x="4133088" y="3131820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54" name="ln-220"/>
          <p:cNvSpPr/>
          <p:nvPr/>
        </p:nvSpPr>
        <p:spPr>
          <a:xfrm>
            <a:off x="4315968" y="3131820"/>
            <a:ext cx="0" cy="372618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55" name="ln-221"/>
          <p:cNvSpPr/>
          <p:nvPr/>
        </p:nvSpPr>
        <p:spPr>
          <a:xfrm>
            <a:off x="4315968" y="3504438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56" name="ln-222"/>
          <p:cNvSpPr/>
          <p:nvPr/>
        </p:nvSpPr>
        <p:spPr>
          <a:xfrm>
            <a:off x="4133088" y="3909060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57" name="ln-223"/>
          <p:cNvSpPr/>
          <p:nvPr/>
        </p:nvSpPr>
        <p:spPr>
          <a:xfrm>
            <a:off x="4315968" y="3504438"/>
            <a:ext cx="0" cy="404622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58" name="ln-224"/>
          <p:cNvSpPr/>
          <p:nvPr/>
        </p:nvSpPr>
        <p:spPr>
          <a:xfrm>
            <a:off x="4315968" y="3504438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59" name="ln-225"/>
          <p:cNvSpPr/>
          <p:nvPr/>
        </p:nvSpPr>
        <p:spPr>
          <a:xfrm>
            <a:off x="4133088" y="4686300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60" name="ln-226"/>
          <p:cNvSpPr/>
          <p:nvPr/>
        </p:nvSpPr>
        <p:spPr>
          <a:xfrm>
            <a:off x="4315968" y="4686300"/>
            <a:ext cx="0" cy="283464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61" name="ln-227"/>
          <p:cNvSpPr/>
          <p:nvPr/>
        </p:nvSpPr>
        <p:spPr>
          <a:xfrm>
            <a:off x="4315968" y="4969764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62" name="box-228"/>
          <p:cNvSpPr/>
          <p:nvPr/>
        </p:nvSpPr>
        <p:spPr>
          <a:xfrm>
            <a:off x="457200" y="3223260"/>
            <a:ext cx="1600200" cy="1371600"/>
          </a:xfrm>
          <a:prstGeom prst="roundRect">
            <a:avLst>
              <a:gd name="adj" fmla="val 4000"/>
            </a:avLst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sp>
        <p:nvSpPr>
          <p:cNvPr id="63" name="t-229"/>
          <p:cNvSpPr txBox="1"/>
          <p:nvPr/>
        </p:nvSpPr>
        <p:spPr>
          <a:xfrm>
            <a:off x="566928" y="3314700"/>
            <a:ext cx="1380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Brave 180 XP</a:t>
            </a: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R$ 51,3 mi</a:t>
            </a:r>
            <a:endParaRPr lang="en-US" sz="1000" dirty="0"/>
          </a:p>
        </p:txBody>
      </p:sp>
      <p:sp>
        <p:nvSpPr>
          <p:cNvPr id="64" name="box-230"/>
          <p:cNvSpPr/>
          <p:nvPr/>
        </p:nvSpPr>
        <p:spPr>
          <a:xfrm>
            <a:off x="2395728" y="285750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A8823F"/>
            </a:solidFill>
            <a:prstDash val="solid"/>
          </a:ln>
        </p:spPr>
      </p:sp>
      <p:sp>
        <p:nvSpPr>
          <p:cNvPr id="65" name="t-231"/>
          <p:cNvSpPr txBox="1"/>
          <p:nvPr/>
        </p:nvSpPr>
        <p:spPr>
          <a:xfrm>
            <a:off x="2487168" y="28940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FIDC Sênior</a:t>
            </a:r>
            <a:endParaRPr lang="en-US" sz="1000" dirty="0"/>
          </a:p>
        </p:txBody>
      </p:sp>
      <p:sp>
        <p:nvSpPr>
          <p:cNvPr id="66" name="t-232"/>
          <p:cNvSpPr txBox="1"/>
          <p:nvPr/>
        </p:nvSpPr>
        <p:spPr>
          <a:xfrm>
            <a:off x="2487168" y="31135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81%</a:t>
            </a:r>
            <a:endParaRPr lang="en-US" sz="1400" dirty="0"/>
          </a:p>
        </p:txBody>
      </p:sp>
      <p:sp>
        <p:nvSpPr>
          <p:cNvPr id="67" name="box-233"/>
          <p:cNvSpPr/>
          <p:nvPr/>
        </p:nvSpPr>
        <p:spPr>
          <a:xfrm>
            <a:off x="2395728" y="363474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A8823F"/>
            </a:solidFill>
            <a:prstDash val="solid"/>
          </a:ln>
        </p:spPr>
      </p:sp>
      <p:sp>
        <p:nvSpPr>
          <p:cNvPr id="68" name="t-234"/>
          <p:cNvSpPr txBox="1"/>
          <p:nvPr/>
        </p:nvSpPr>
        <p:spPr>
          <a:xfrm>
            <a:off x="2487168" y="36713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FIDC Mezanino</a:t>
            </a:r>
            <a:endParaRPr lang="en-US" sz="1000" dirty="0"/>
          </a:p>
        </p:txBody>
      </p:sp>
      <p:sp>
        <p:nvSpPr>
          <p:cNvPr id="69" name="t-235"/>
          <p:cNvSpPr txBox="1"/>
          <p:nvPr/>
        </p:nvSpPr>
        <p:spPr>
          <a:xfrm>
            <a:off x="2487168" y="38907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17%</a:t>
            </a:r>
            <a:endParaRPr lang="en-US" sz="1400" dirty="0"/>
          </a:p>
        </p:txBody>
      </p:sp>
      <p:sp>
        <p:nvSpPr>
          <p:cNvPr id="70" name="box-236"/>
          <p:cNvSpPr/>
          <p:nvPr/>
        </p:nvSpPr>
        <p:spPr>
          <a:xfrm>
            <a:off x="2395728" y="441198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A8823F"/>
            </a:solidFill>
            <a:prstDash val="solid"/>
          </a:ln>
        </p:spPr>
      </p:sp>
      <p:sp>
        <p:nvSpPr>
          <p:cNvPr id="71" name="t-237"/>
          <p:cNvSpPr txBox="1"/>
          <p:nvPr/>
        </p:nvSpPr>
        <p:spPr>
          <a:xfrm>
            <a:off x="2487168" y="44485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Caixa*</a:t>
            </a:r>
            <a:endParaRPr lang="en-US" sz="1000" dirty="0"/>
          </a:p>
        </p:txBody>
      </p:sp>
      <p:sp>
        <p:nvSpPr>
          <p:cNvPr id="72" name="t-238"/>
          <p:cNvSpPr txBox="1"/>
          <p:nvPr/>
        </p:nvSpPr>
        <p:spPr>
          <a:xfrm>
            <a:off x="2487168" y="46680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3%</a:t>
            </a:r>
            <a:endParaRPr lang="en-US" sz="1400" dirty="0"/>
          </a:p>
        </p:txBody>
      </p:sp>
      <p:sp>
        <p:nvSpPr>
          <p:cNvPr id="73" name="ln-239"/>
          <p:cNvSpPr/>
          <p:nvPr/>
        </p:nvSpPr>
        <p:spPr>
          <a:xfrm>
            <a:off x="9070848" y="3504438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74" name="ln-240"/>
          <p:cNvSpPr/>
          <p:nvPr/>
        </p:nvSpPr>
        <p:spPr>
          <a:xfrm>
            <a:off x="9253728" y="3504438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75" name="box-241"/>
          <p:cNvSpPr/>
          <p:nvPr/>
        </p:nvSpPr>
        <p:spPr>
          <a:xfrm>
            <a:off x="9436608" y="1913382"/>
            <a:ext cx="2304288" cy="3182112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9C7A3"/>
            </a:solidFill>
            <a:prstDash val="solid"/>
          </a:ln>
        </p:spPr>
      </p:sp>
      <p:sp>
        <p:nvSpPr>
          <p:cNvPr id="76" name="t-242"/>
          <p:cNvSpPr txBox="1"/>
          <p:nvPr/>
        </p:nvSpPr>
        <p:spPr>
          <a:xfrm>
            <a:off x="9546336" y="1986534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Recebíveis · % do PL do fundo</a:t>
            </a:r>
            <a:endParaRPr lang="en-US" sz="950" dirty="0"/>
          </a:p>
        </p:txBody>
      </p:sp>
      <p:sp>
        <p:nvSpPr>
          <p:cNvPr id="77" name="t-243"/>
          <p:cNvSpPr txBox="1"/>
          <p:nvPr/>
        </p:nvSpPr>
        <p:spPr>
          <a:xfrm>
            <a:off x="9546336" y="2297430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Crédito pessoal e corp.</a:t>
            </a:r>
            <a:endParaRPr lang="en-US" sz="850" dirty="0"/>
          </a:p>
        </p:txBody>
      </p:sp>
      <p:sp>
        <p:nvSpPr>
          <p:cNvPr id="78" name="bar-244"/>
          <p:cNvSpPr/>
          <p:nvPr/>
        </p:nvSpPr>
        <p:spPr>
          <a:xfrm>
            <a:off x="9546336" y="2443734"/>
            <a:ext cx="1435608" cy="82296"/>
          </a:xfrm>
          <a:prstGeom prst="rect">
            <a:avLst/>
          </a:prstGeom>
          <a:solidFill>
            <a:srgbClr val="A8823F"/>
          </a:solidFill>
          <a:ln/>
        </p:spPr>
      </p:sp>
      <p:sp>
        <p:nvSpPr>
          <p:cNvPr id="79" name="t-245"/>
          <p:cNvSpPr txBox="1"/>
          <p:nvPr/>
        </p:nvSpPr>
        <p:spPr>
          <a:xfrm>
            <a:off x="11119104" y="236143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34,4%</a:t>
            </a:r>
            <a:endParaRPr lang="en-US" sz="850" dirty="0"/>
          </a:p>
        </p:txBody>
      </p:sp>
      <p:sp>
        <p:nvSpPr>
          <p:cNvPr id="80" name="t-246"/>
          <p:cNvSpPr txBox="1"/>
          <p:nvPr/>
        </p:nvSpPr>
        <p:spPr>
          <a:xfrm>
            <a:off x="9546336" y="2571750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Comércio/varejo</a:t>
            </a:r>
            <a:endParaRPr lang="en-US" sz="850" dirty="0"/>
          </a:p>
        </p:txBody>
      </p:sp>
      <p:sp>
        <p:nvSpPr>
          <p:cNvPr id="81" name="bar-247"/>
          <p:cNvSpPr/>
          <p:nvPr/>
        </p:nvSpPr>
        <p:spPr>
          <a:xfrm>
            <a:off x="9546336" y="2718054"/>
            <a:ext cx="805114" cy="82296"/>
          </a:xfrm>
          <a:prstGeom prst="rect">
            <a:avLst/>
          </a:prstGeom>
          <a:solidFill>
            <a:srgbClr val="A8823F"/>
          </a:solidFill>
          <a:ln/>
        </p:spPr>
      </p:sp>
      <p:sp>
        <p:nvSpPr>
          <p:cNvPr id="82" name="t-248"/>
          <p:cNvSpPr txBox="1"/>
          <p:nvPr/>
        </p:nvSpPr>
        <p:spPr>
          <a:xfrm>
            <a:off x="11119104" y="263575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19,3%</a:t>
            </a:r>
            <a:endParaRPr lang="en-US" sz="850" dirty="0"/>
          </a:p>
        </p:txBody>
      </p:sp>
      <p:sp>
        <p:nvSpPr>
          <p:cNvPr id="83" name="t-249"/>
          <p:cNvSpPr txBox="1"/>
          <p:nvPr/>
        </p:nvSpPr>
        <p:spPr>
          <a:xfrm>
            <a:off x="9546336" y="2846070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Indústria</a:t>
            </a:r>
            <a:endParaRPr lang="en-US" sz="850" dirty="0"/>
          </a:p>
        </p:txBody>
      </p:sp>
      <p:sp>
        <p:nvSpPr>
          <p:cNvPr id="84" name="bar-250"/>
          <p:cNvSpPr/>
          <p:nvPr/>
        </p:nvSpPr>
        <p:spPr>
          <a:xfrm>
            <a:off x="9546336" y="2992374"/>
            <a:ext cx="721493" cy="82296"/>
          </a:xfrm>
          <a:prstGeom prst="rect">
            <a:avLst/>
          </a:prstGeom>
          <a:solidFill>
            <a:srgbClr val="A8823F"/>
          </a:solidFill>
          <a:ln/>
        </p:spPr>
      </p:sp>
      <p:sp>
        <p:nvSpPr>
          <p:cNvPr id="85" name="t-251"/>
          <p:cNvSpPr txBox="1"/>
          <p:nvPr/>
        </p:nvSpPr>
        <p:spPr>
          <a:xfrm>
            <a:off x="11119104" y="291007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17,3%</a:t>
            </a:r>
            <a:endParaRPr lang="en-US" sz="850" dirty="0"/>
          </a:p>
        </p:txBody>
      </p:sp>
      <p:sp>
        <p:nvSpPr>
          <p:cNvPr id="86" name="t-252"/>
          <p:cNvSpPr txBox="1"/>
          <p:nvPr/>
        </p:nvSpPr>
        <p:spPr>
          <a:xfrm>
            <a:off x="9546336" y="3120390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Serviços</a:t>
            </a:r>
            <a:endParaRPr lang="en-US" sz="850" dirty="0"/>
          </a:p>
        </p:txBody>
      </p:sp>
      <p:sp>
        <p:nvSpPr>
          <p:cNvPr id="87" name="bar-253"/>
          <p:cNvSpPr/>
          <p:nvPr/>
        </p:nvSpPr>
        <p:spPr>
          <a:xfrm>
            <a:off x="9546336" y="3266694"/>
            <a:ext cx="320443" cy="82296"/>
          </a:xfrm>
          <a:prstGeom prst="rect">
            <a:avLst/>
          </a:prstGeom>
          <a:solidFill>
            <a:srgbClr val="A8823F"/>
          </a:solidFill>
          <a:ln/>
        </p:spPr>
      </p:sp>
      <p:sp>
        <p:nvSpPr>
          <p:cNvPr id="88" name="t-254"/>
          <p:cNvSpPr txBox="1"/>
          <p:nvPr/>
        </p:nvSpPr>
        <p:spPr>
          <a:xfrm>
            <a:off x="11119104" y="318439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7,7%</a:t>
            </a:r>
            <a:endParaRPr lang="en-US" sz="850" dirty="0"/>
          </a:p>
        </p:txBody>
      </p:sp>
      <p:sp>
        <p:nvSpPr>
          <p:cNvPr id="89" name="t-255"/>
          <p:cNvSpPr txBox="1"/>
          <p:nvPr/>
        </p:nvSpPr>
        <p:spPr>
          <a:xfrm>
            <a:off x="9546336" y="3394710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Caixa dos FIDCs</a:t>
            </a:r>
            <a:endParaRPr lang="en-US" sz="850" dirty="0"/>
          </a:p>
        </p:txBody>
      </p:sp>
      <p:sp>
        <p:nvSpPr>
          <p:cNvPr id="90" name="bar-256"/>
          <p:cNvSpPr/>
          <p:nvPr/>
        </p:nvSpPr>
        <p:spPr>
          <a:xfrm>
            <a:off x="9546336" y="3541014"/>
            <a:ext cx="274427" cy="82296"/>
          </a:xfrm>
          <a:prstGeom prst="rect">
            <a:avLst/>
          </a:prstGeom>
          <a:solidFill>
            <a:srgbClr val="7A8599"/>
          </a:solidFill>
          <a:ln/>
        </p:spPr>
      </p:sp>
      <p:sp>
        <p:nvSpPr>
          <p:cNvPr id="91" name="t-257"/>
          <p:cNvSpPr txBox="1"/>
          <p:nvPr/>
        </p:nvSpPr>
        <p:spPr>
          <a:xfrm>
            <a:off x="11119104" y="345871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6,6%</a:t>
            </a:r>
            <a:endParaRPr lang="en-US" sz="850" dirty="0"/>
          </a:p>
        </p:txBody>
      </p:sp>
      <p:sp>
        <p:nvSpPr>
          <p:cNvPr id="92" name="t-258"/>
          <p:cNvSpPr txBox="1"/>
          <p:nvPr/>
        </p:nvSpPr>
        <p:spPr>
          <a:xfrm>
            <a:off x="9546336" y="3669030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Sem abertura (FIC/Fiagro)</a:t>
            </a:r>
            <a:endParaRPr lang="en-US" sz="850" dirty="0"/>
          </a:p>
        </p:txBody>
      </p:sp>
      <p:sp>
        <p:nvSpPr>
          <p:cNvPr id="93" name="bar-259"/>
          <p:cNvSpPr/>
          <p:nvPr/>
        </p:nvSpPr>
        <p:spPr>
          <a:xfrm>
            <a:off x="9546336" y="3815334"/>
            <a:ext cx="238706" cy="82296"/>
          </a:xfrm>
          <a:prstGeom prst="rect">
            <a:avLst/>
          </a:prstGeom>
          <a:solidFill>
            <a:srgbClr val="7A8599"/>
          </a:solidFill>
          <a:ln/>
        </p:spPr>
      </p:sp>
      <p:sp>
        <p:nvSpPr>
          <p:cNvPr id="94" name="t-260"/>
          <p:cNvSpPr txBox="1"/>
          <p:nvPr/>
        </p:nvSpPr>
        <p:spPr>
          <a:xfrm>
            <a:off x="11119104" y="373303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5,7%</a:t>
            </a:r>
            <a:endParaRPr lang="en-US" sz="850" dirty="0"/>
          </a:p>
        </p:txBody>
      </p:sp>
      <p:sp>
        <p:nvSpPr>
          <p:cNvPr id="95" name="t-261"/>
          <p:cNvSpPr txBox="1"/>
          <p:nvPr/>
        </p:nvSpPr>
        <p:spPr>
          <a:xfrm>
            <a:off x="9546336" y="3943350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Crédito consignado</a:t>
            </a:r>
            <a:endParaRPr lang="en-US" sz="850" dirty="0"/>
          </a:p>
        </p:txBody>
      </p:sp>
      <p:sp>
        <p:nvSpPr>
          <p:cNvPr id="96" name="bar-262"/>
          <p:cNvSpPr/>
          <p:nvPr/>
        </p:nvSpPr>
        <p:spPr>
          <a:xfrm>
            <a:off x="9546336" y="4089654"/>
            <a:ext cx="188703" cy="82296"/>
          </a:xfrm>
          <a:prstGeom prst="rect">
            <a:avLst/>
          </a:prstGeom>
          <a:solidFill>
            <a:srgbClr val="A8823F"/>
          </a:solidFill>
          <a:ln/>
        </p:spPr>
      </p:sp>
      <p:sp>
        <p:nvSpPr>
          <p:cNvPr id="97" name="t-263"/>
          <p:cNvSpPr txBox="1"/>
          <p:nvPr/>
        </p:nvSpPr>
        <p:spPr>
          <a:xfrm>
            <a:off x="11119104" y="400735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4,5%</a:t>
            </a:r>
            <a:endParaRPr lang="en-US" sz="850" dirty="0"/>
          </a:p>
        </p:txBody>
      </p:sp>
      <p:sp>
        <p:nvSpPr>
          <p:cNvPr id="98" name="t-264"/>
          <p:cNvSpPr txBox="1"/>
          <p:nvPr/>
        </p:nvSpPr>
        <p:spPr>
          <a:xfrm>
            <a:off x="9546336" y="4217670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Imobiliário</a:t>
            </a:r>
            <a:endParaRPr lang="en-US" sz="850" dirty="0"/>
          </a:p>
        </p:txBody>
      </p:sp>
      <p:sp>
        <p:nvSpPr>
          <p:cNvPr id="99" name="bar-265"/>
          <p:cNvSpPr/>
          <p:nvPr/>
        </p:nvSpPr>
        <p:spPr>
          <a:xfrm>
            <a:off x="9546336" y="4363974"/>
            <a:ext cx="27432" cy="82296"/>
          </a:xfrm>
          <a:prstGeom prst="rect">
            <a:avLst/>
          </a:prstGeom>
          <a:solidFill>
            <a:srgbClr val="A8823F"/>
          </a:solidFill>
          <a:ln/>
        </p:spPr>
      </p:sp>
      <p:sp>
        <p:nvSpPr>
          <p:cNvPr id="100" name="t-266"/>
          <p:cNvSpPr txBox="1"/>
          <p:nvPr/>
        </p:nvSpPr>
        <p:spPr>
          <a:xfrm>
            <a:off x="11119104" y="428167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0,4%</a:t>
            </a:r>
            <a:endParaRPr lang="en-US" sz="850" dirty="0"/>
          </a:p>
        </p:txBody>
      </p:sp>
      <p:sp>
        <p:nvSpPr>
          <p:cNvPr id="101" name="t-267"/>
          <p:cNvSpPr txBox="1"/>
          <p:nvPr/>
        </p:nvSpPr>
        <p:spPr>
          <a:xfrm>
            <a:off x="9546336" y="4528566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chemeClr val="accent4"/>
                </a:solidFill>
              </a:rPr>
              <a:t>Rateio pela carteira de cada FIDC (Informe Mensal CVM). Não separa sênior/mezanino. “Crédito pessoal e corp.” inclui outros créditos financeiros.</a:t>
            </a:r>
            <a:endParaRPr lang="en-US" sz="800" dirty="0"/>
          </a:p>
        </p:txBody>
      </p:sp>
      <p:sp>
        <p:nvSpPr>
          <p:cNvPr id="102" name="t-268"/>
          <p:cNvSpPr txBox="1"/>
          <p:nvPr/>
        </p:nvSpPr>
        <p:spPr>
          <a:xfrm>
            <a:off x="457200" y="63276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4"/>
                </a:solidFill>
              </a:rPr>
              <a:t>Classes: lâmina set/26 · Ativos: CDA CVM 31/08/2026 · Lastro: Informe Mensal FIDC CVM 08/2026  ·  *Caixa = zeragem e títulos públicos (nota da lâmina). % do nível 2 = lâmina set/26; % dos níveis 3–4 = data-base CVM indicada.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Brave Iron FIRF</a:t>
            </a:r>
            <a:endParaRPr lang="en-US" sz="3000" dirty="0"/>
          </a:p>
        </p:txBody>
      </p:sp>
      <p:sp>
        <p:nvSpPr>
          <p:cNvPr id="3" name="t-269"/>
          <p:cNvSpPr txBox="1"/>
          <p:nvPr/>
        </p:nvSpPr>
        <p:spPr>
          <a:xfrm>
            <a:off x="457200" y="84124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CNPJ 54.485.055/0001-68  ·  PL R$ 58,2 mi (lâmina set/26)  ·  Resgate D+46</a:t>
            </a:r>
            <a:endParaRPr lang="en-US" sz="1100" dirty="0"/>
          </a:p>
        </p:txBody>
      </p:sp>
      <p:sp>
        <p:nvSpPr>
          <p:cNvPr id="4" name="t-270"/>
          <p:cNvSpPr txBox="1"/>
          <p:nvPr/>
        </p:nvSpPr>
        <p:spPr>
          <a:xfrm>
            <a:off x="457200" y="12984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1  </a:t>
            </a:r>
            <a:pPr indent="0" marL="0">
              <a:buNone/>
            </a:pPr>
            <a:r>
              <a:rPr lang="en-US" sz="950" b="1" spc="100" kern="0" dirty="0">
                <a:solidFill>
                  <a:schemeClr val="accent2"/>
                </a:solidFill>
              </a:rPr>
              <a:t>FUNDO</a:t>
            </a:r>
            <a:endParaRPr lang="en-US" sz="950" dirty="0"/>
          </a:p>
        </p:txBody>
      </p:sp>
      <p:sp>
        <p:nvSpPr>
          <p:cNvPr id="5" name="t-271"/>
          <p:cNvSpPr txBox="1"/>
          <p:nvPr/>
        </p:nvSpPr>
        <p:spPr>
          <a:xfrm>
            <a:off x="2395728" y="12984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2  </a:t>
            </a:r>
            <a:pPr indent="0" marL="0">
              <a:buNone/>
            </a:pPr>
            <a:r>
              <a:rPr lang="en-US" sz="950" b="1" spc="100" kern="0" dirty="0">
                <a:solidFill>
                  <a:schemeClr val="accent2"/>
                </a:solidFill>
              </a:rPr>
              <a:t>CLASSES · lâmina</a:t>
            </a:r>
            <a:endParaRPr lang="en-US" sz="950" dirty="0"/>
          </a:p>
        </p:txBody>
      </p:sp>
      <p:sp>
        <p:nvSpPr>
          <p:cNvPr id="6" name="t-272"/>
          <p:cNvSpPr txBox="1"/>
          <p:nvPr/>
        </p:nvSpPr>
        <p:spPr>
          <a:xfrm>
            <a:off x="4498848" y="12984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3  </a:t>
            </a:r>
            <a:pPr indent="0" marL="0">
              <a:buNone/>
            </a:pPr>
            <a:r>
              <a:rPr lang="en-US" sz="950" b="1" spc="100" kern="0" dirty="0">
                <a:solidFill>
                  <a:schemeClr val="accent2"/>
                </a:solidFill>
              </a:rPr>
              <a:t>ATIVOS · CVM</a:t>
            </a:r>
            <a:endParaRPr lang="en-US" sz="950" dirty="0"/>
          </a:p>
        </p:txBody>
      </p:sp>
      <p:sp>
        <p:nvSpPr>
          <p:cNvPr id="7" name="t-273"/>
          <p:cNvSpPr txBox="1"/>
          <p:nvPr/>
        </p:nvSpPr>
        <p:spPr>
          <a:xfrm>
            <a:off x="9436608" y="129844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4  </a:t>
            </a:r>
            <a:pPr indent="0" marL="0">
              <a:buNone/>
            </a:pPr>
            <a:r>
              <a:rPr lang="en-US" sz="950" b="1" spc="100" kern="0" dirty="0">
                <a:solidFill>
                  <a:schemeClr val="accent2"/>
                </a:solidFill>
              </a:rPr>
              <a:t>LASTRO DOS FIDCs</a:t>
            </a:r>
            <a:endParaRPr lang="en-US" sz="950" dirty="0"/>
          </a:p>
        </p:txBody>
      </p:sp>
      <p:sp>
        <p:nvSpPr>
          <p:cNvPr id="8" name="box-274"/>
          <p:cNvSpPr/>
          <p:nvPr/>
        </p:nvSpPr>
        <p:spPr>
          <a:xfrm>
            <a:off x="4498848" y="1645920"/>
            <a:ext cx="4572000" cy="1339596"/>
          </a:xfrm>
          <a:prstGeom prst="roundRect">
            <a:avLst>
              <a:gd name="adj" fmla="val 4096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9" name="t-275"/>
          <p:cNvSpPr txBox="1"/>
          <p:nvPr/>
        </p:nvSpPr>
        <p:spPr>
          <a:xfrm>
            <a:off x="4636008" y="170078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Debêntures (código do ativo)</a:t>
            </a:r>
            <a:pPr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   44 posições</a:t>
            </a:r>
            <a:endParaRPr lang="en-US" sz="1150" dirty="0"/>
          </a:p>
        </p:txBody>
      </p:sp>
      <p:sp>
        <p:nvSpPr>
          <p:cNvPr id="10" name="t-276"/>
          <p:cNvSpPr txBox="1"/>
          <p:nvPr/>
        </p:nvSpPr>
        <p:spPr>
          <a:xfrm>
            <a:off x="8019288" y="16824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38,9%</a:t>
            </a:r>
            <a:endParaRPr lang="en-US" sz="1400" dirty="0"/>
          </a:p>
        </p:txBody>
      </p:sp>
      <p:sp>
        <p:nvSpPr>
          <p:cNvPr id="11" name="t-277"/>
          <p:cNvSpPr txBox="1"/>
          <p:nvPr/>
        </p:nvSpPr>
        <p:spPr>
          <a:xfrm>
            <a:off x="4636008" y="1956816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RDOR</a:t>
            </a:r>
            <a:endParaRPr lang="en-US" sz="950" dirty="0"/>
          </a:p>
        </p:txBody>
      </p:sp>
      <p:sp>
        <p:nvSpPr>
          <p:cNvPr id="12" name="t-278"/>
          <p:cNvSpPr txBox="1"/>
          <p:nvPr/>
        </p:nvSpPr>
        <p:spPr>
          <a:xfrm>
            <a:off x="6236208" y="1956816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2,5%</a:t>
            </a:r>
            <a:endParaRPr lang="en-US" sz="950" dirty="0"/>
          </a:p>
        </p:txBody>
      </p:sp>
      <p:sp>
        <p:nvSpPr>
          <p:cNvPr id="13" name="t-279"/>
          <p:cNvSpPr txBox="1"/>
          <p:nvPr/>
        </p:nvSpPr>
        <p:spPr>
          <a:xfrm>
            <a:off x="6830568" y="1956816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BSA3</a:t>
            </a:r>
            <a:endParaRPr lang="en-US" sz="950" dirty="0"/>
          </a:p>
        </p:txBody>
      </p:sp>
      <p:sp>
        <p:nvSpPr>
          <p:cNvPr id="14" name="t-280"/>
          <p:cNvSpPr txBox="1"/>
          <p:nvPr/>
        </p:nvSpPr>
        <p:spPr>
          <a:xfrm>
            <a:off x="8430768" y="1956816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2,4%</a:t>
            </a:r>
            <a:endParaRPr lang="en-US" sz="950" dirty="0"/>
          </a:p>
        </p:txBody>
      </p:sp>
      <p:sp>
        <p:nvSpPr>
          <p:cNvPr id="15" name="t-281"/>
          <p:cNvSpPr txBox="1"/>
          <p:nvPr/>
        </p:nvSpPr>
        <p:spPr>
          <a:xfrm>
            <a:off x="4636008" y="2144268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TRES</a:t>
            </a:r>
            <a:endParaRPr lang="en-US" sz="950" dirty="0"/>
          </a:p>
        </p:txBody>
      </p:sp>
      <p:sp>
        <p:nvSpPr>
          <p:cNvPr id="16" name="t-282"/>
          <p:cNvSpPr txBox="1"/>
          <p:nvPr/>
        </p:nvSpPr>
        <p:spPr>
          <a:xfrm>
            <a:off x="6236208" y="2144268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1,6%</a:t>
            </a:r>
            <a:endParaRPr lang="en-US" sz="950" dirty="0"/>
          </a:p>
        </p:txBody>
      </p:sp>
      <p:sp>
        <p:nvSpPr>
          <p:cNvPr id="17" name="t-283"/>
          <p:cNvSpPr txBox="1"/>
          <p:nvPr/>
        </p:nvSpPr>
        <p:spPr>
          <a:xfrm>
            <a:off x="6830568" y="2144268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JHSF</a:t>
            </a:r>
            <a:endParaRPr lang="en-US" sz="950" dirty="0"/>
          </a:p>
        </p:txBody>
      </p:sp>
      <p:sp>
        <p:nvSpPr>
          <p:cNvPr id="18" name="t-284"/>
          <p:cNvSpPr txBox="1"/>
          <p:nvPr/>
        </p:nvSpPr>
        <p:spPr>
          <a:xfrm>
            <a:off x="8430768" y="2144268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1,6%</a:t>
            </a:r>
            <a:endParaRPr lang="en-US" sz="950" dirty="0"/>
          </a:p>
        </p:txBody>
      </p:sp>
      <p:sp>
        <p:nvSpPr>
          <p:cNvPr id="19" name="t-285"/>
          <p:cNvSpPr txBox="1"/>
          <p:nvPr/>
        </p:nvSpPr>
        <p:spPr>
          <a:xfrm>
            <a:off x="4636008" y="2331720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CPGT</a:t>
            </a:r>
            <a:endParaRPr lang="en-US" sz="950" dirty="0"/>
          </a:p>
        </p:txBody>
      </p:sp>
      <p:sp>
        <p:nvSpPr>
          <p:cNvPr id="20" name="t-286"/>
          <p:cNvSpPr txBox="1"/>
          <p:nvPr/>
        </p:nvSpPr>
        <p:spPr>
          <a:xfrm>
            <a:off x="6236208" y="2331720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1,5%</a:t>
            </a:r>
            <a:endParaRPr lang="en-US" sz="950" dirty="0"/>
          </a:p>
        </p:txBody>
      </p:sp>
      <p:sp>
        <p:nvSpPr>
          <p:cNvPr id="21" name="t-287"/>
          <p:cNvSpPr txBox="1"/>
          <p:nvPr/>
        </p:nvSpPr>
        <p:spPr>
          <a:xfrm>
            <a:off x="6830568" y="2331720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MULP</a:t>
            </a:r>
            <a:endParaRPr lang="en-US" sz="950" dirty="0"/>
          </a:p>
        </p:txBody>
      </p:sp>
      <p:sp>
        <p:nvSpPr>
          <p:cNvPr id="22" name="t-288"/>
          <p:cNvSpPr txBox="1"/>
          <p:nvPr/>
        </p:nvSpPr>
        <p:spPr>
          <a:xfrm>
            <a:off x="8430768" y="2331720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1,4%</a:t>
            </a:r>
            <a:endParaRPr lang="en-US" sz="950" dirty="0"/>
          </a:p>
        </p:txBody>
      </p:sp>
      <p:sp>
        <p:nvSpPr>
          <p:cNvPr id="23" name="t-289"/>
          <p:cNvSpPr txBox="1"/>
          <p:nvPr/>
        </p:nvSpPr>
        <p:spPr>
          <a:xfrm>
            <a:off x="4636008" y="2519172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CIEL</a:t>
            </a:r>
            <a:endParaRPr lang="en-US" sz="950" dirty="0"/>
          </a:p>
        </p:txBody>
      </p:sp>
      <p:sp>
        <p:nvSpPr>
          <p:cNvPr id="24" name="t-290"/>
          <p:cNvSpPr txBox="1"/>
          <p:nvPr/>
        </p:nvSpPr>
        <p:spPr>
          <a:xfrm>
            <a:off x="6236208" y="2519172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1,4%</a:t>
            </a:r>
            <a:endParaRPr lang="en-US" sz="950" dirty="0"/>
          </a:p>
        </p:txBody>
      </p:sp>
      <p:sp>
        <p:nvSpPr>
          <p:cNvPr id="25" name="t-291"/>
          <p:cNvSpPr txBox="1"/>
          <p:nvPr/>
        </p:nvSpPr>
        <p:spPr>
          <a:xfrm>
            <a:off x="6830568" y="2519172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SAPR</a:t>
            </a:r>
            <a:endParaRPr lang="en-US" sz="950" dirty="0"/>
          </a:p>
        </p:txBody>
      </p:sp>
      <p:sp>
        <p:nvSpPr>
          <p:cNvPr id="26" name="t-292"/>
          <p:cNvSpPr txBox="1"/>
          <p:nvPr/>
        </p:nvSpPr>
        <p:spPr>
          <a:xfrm>
            <a:off x="8430768" y="2519172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1,4%</a:t>
            </a:r>
            <a:endParaRPr lang="en-US" sz="950" dirty="0"/>
          </a:p>
        </p:txBody>
      </p:sp>
      <p:sp>
        <p:nvSpPr>
          <p:cNvPr id="27" name="t-293"/>
          <p:cNvSpPr txBox="1"/>
          <p:nvPr/>
        </p:nvSpPr>
        <p:spPr>
          <a:xfrm>
            <a:off x="4636008" y="2706624"/>
            <a:ext cx="42976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+ 36 outras posições somando 25,2%</a:t>
            </a:r>
            <a:endParaRPr lang="en-US" sz="900" dirty="0"/>
          </a:p>
        </p:txBody>
      </p:sp>
      <p:sp>
        <p:nvSpPr>
          <p:cNvPr id="28" name="box-294"/>
          <p:cNvSpPr/>
          <p:nvPr/>
        </p:nvSpPr>
        <p:spPr>
          <a:xfrm>
            <a:off x="4498848" y="3083052"/>
            <a:ext cx="4572000" cy="1152144"/>
          </a:xfrm>
          <a:prstGeom prst="roundRect">
            <a:avLst>
              <a:gd name="adj" fmla="val 4762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9" name="t-295"/>
          <p:cNvSpPr txBox="1"/>
          <p:nvPr/>
        </p:nvSpPr>
        <p:spPr>
          <a:xfrm>
            <a:off x="4636008" y="313791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Letras financeiras (emissor)</a:t>
            </a:r>
            <a:pPr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   14 posições</a:t>
            </a:r>
            <a:endParaRPr lang="en-US" sz="1150" dirty="0"/>
          </a:p>
        </p:txBody>
      </p:sp>
      <p:sp>
        <p:nvSpPr>
          <p:cNvPr id="30" name="t-296"/>
          <p:cNvSpPr txBox="1"/>
          <p:nvPr/>
        </p:nvSpPr>
        <p:spPr>
          <a:xfrm>
            <a:off x="8019288" y="31196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23,5%</a:t>
            </a:r>
            <a:endParaRPr lang="en-US" sz="1400" dirty="0"/>
          </a:p>
        </p:txBody>
      </p:sp>
      <p:sp>
        <p:nvSpPr>
          <p:cNvPr id="31" name="t-297"/>
          <p:cNvSpPr txBox="1"/>
          <p:nvPr/>
        </p:nvSpPr>
        <p:spPr>
          <a:xfrm>
            <a:off x="4636008" y="3393948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Itaú</a:t>
            </a:r>
            <a:endParaRPr lang="en-US" sz="950" dirty="0"/>
          </a:p>
        </p:txBody>
      </p:sp>
      <p:sp>
        <p:nvSpPr>
          <p:cNvPr id="32" name="t-298"/>
          <p:cNvSpPr txBox="1"/>
          <p:nvPr/>
        </p:nvSpPr>
        <p:spPr>
          <a:xfrm>
            <a:off x="6236208" y="3393948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4,6%</a:t>
            </a:r>
            <a:endParaRPr lang="en-US" sz="950" dirty="0"/>
          </a:p>
        </p:txBody>
      </p:sp>
      <p:sp>
        <p:nvSpPr>
          <p:cNvPr id="33" name="t-299"/>
          <p:cNvSpPr txBox="1"/>
          <p:nvPr/>
        </p:nvSpPr>
        <p:spPr>
          <a:xfrm>
            <a:off x="6830568" y="3393948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Santander</a:t>
            </a:r>
            <a:endParaRPr lang="en-US" sz="950" dirty="0"/>
          </a:p>
        </p:txBody>
      </p:sp>
      <p:sp>
        <p:nvSpPr>
          <p:cNvPr id="34" name="t-300"/>
          <p:cNvSpPr txBox="1"/>
          <p:nvPr/>
        </p:nvSpPr>
        <p:spPr>
          <a:xfrm>
            <a:off x="8430768" y="3393948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2,9%</a:t>
            </a:r>
            <a:endParaRPr lang="en-US" sz="950" dirty="0"/>
          </a:p>
        </p:txBody>
      </p:sp>
      <p:sp>
        <p:nvSpPr>
          <p:cNvPr id="35" name="t-301"/>
          <p:cNvSpPr txBox="1"/>
          <p:nvPr/>
        </p:nvSpPr>
        <p:spPr>
          <a:xfrm>
            <a:off x="4636008" y="3581400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Votorantim</a:t>
            </a:r>
            <a:endParaRPr lang="en-US" sz="950" dirty="0"/>
          </a:p>
        </p:txBody>
      </p:sp>
      <p:sp>
        <p:nvSpPr>
          <p:cNvPr id="36" name="t-302"/>
          <p:cNvSpPr txBox="1"/>
          <p:nvPr/>
        </p:nvSpPr>
        <p:spPr>
          <a:xfrm>
            <a:off x="6236208" y="3581400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2,4%</a:t>
            </a:r>
            <a:endParaRPr lang="en-US" sz="950" dirty="0"/>
          </a:p>
        </p:txBody>
      </p:sp>
      <p:sp>
        <p:nvSpPr>
          <p:cNvPr id="37" name="t-303"/>
          <p:cNvSpPr txBox="1"/>
          <p:nvPr/>
        </p:nvSpPr>
        <p:spPr>
          <a:xfrm>
            <a:off x="6830568" y="3581400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Safra</a:t>
            </a:r>
            <a:endParaRPr lang="en-US" sz="950" dirty="0"/>
          </a:p>
        </p:txBody>
      </p:sp>
      <p:sp>
        <p:nvSpPr>
          <p:cNvPr id="38" name="t-304"/>
          <p:cNvSpPr txBox="1"/>
          <p:nvPr/>
        </p:nvSpPr>
        <p:spPr>
          <a:xfrm>
            <a:off x="8430768" y="3581400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2,3%</a:t>
            </a:r>
            <a:endParaRPr lang="en-US" sz="950" dirty="0"/>
          </a:p>
        </p:txBody>
      </p:sp>
      <p:sp>
        <p:nvSpPr>
          <p:cNvPr id="39" name="t-305"/>
          <p:cNvSpPr txBox="1"/>
          <p:nvPr/>
        </p:nvSpPr>
        <p:spPr>
          <a:xfrm>
            <a:off x="4636008" y="3768852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Nu Financeira</a:t>
            </a:r>
            <a:endParaRPr lang="en-US" sz="950" dirty="0"/>
          </a:p>
        </p:txBody>
      </p:sp>
      <p:sp>
        <p:nvSpPr>
          <p:cNvPr id="40" name="t-306"/>
          <p:cNvSpPr txBox="1"/>
          <p:nvPr/>
        </p:nvSpPr>
        <p:spPr>
          <a:xfrm>
            <a:off x="6236208" y="3768852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2,2%</a:t>
            </a:r>
            <a:endParaRPr lang="en-US" sz="950" dirty="0"/>
          </a:p>
        </p:txBody>
      </p:sp>
      <p:sp>
        <p:nvSpPr>
          <p:cNvPr id="41" name="t-307"/>
          <p:cNvSpPr txBox="1"/>
          <p:nvPr/>
        </p:nvSpPr>
        <p:spPr>
          <a:xfrm>
            <a:off x="6830568" y="3768852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BTG Pactual</a:t>
            </a:r>
            <a:endParaRPr lang="en-US" sz="950" dirty="0"/>
          </a:p>
        </p:txBody>
      </p:sp>
      <p:sp>
        <p:nvSpPr>
          <p:cNvPr id="42" name="t-308"/>
          <p:cNvSpPr txBox="1"/>
          <p:nvPr/>
        </p:nvSpPr>
        <p:spPr>
          <a:xfrm>
            <a:off x="8430768" y="3768852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1,8%</a:t>
            </a:r>
            <a:endParaRPr lang="en-US" sz="950" dirty="0"/>
          </a:p>
        </p:txBody>
      </p:sp>
      <p:sp>
        <p:nvSpPr>
          <p:cNvPr id="43" name="t-309"/>
          <p:cNvSpPr txBox="1"/>
          <p:nvPr/>
        </p:nvSpPr>
        <p:spPr>
          <a:xfrm>
            <a:off x="4636008" y="3956304"/>
            <a:ext cx="42976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+ 8 outras posições somando 7,4%</a:t>
            </a:r>
            <a:endParaRPr lang="en-US" sz="900" dirty="0"/>
          </a:p>
        </p:txBody>
      </p:sp>
      <p:sp>
        <p:nvSpPr>
          <p:cNvPr id="44" name="box-310"/>
          <p:cNvSpPr/>
          <p:nvPr/>
        </p:nvSpPr>
        <p:spPr>
          <a:xfrm>
            <a:off x="4498848" y="4332732"/>
            <a:ext cx="4572000" cy="1152144"/>
          </a:xfrm>
          <a:prstGeom prst="roundRect">
            <a:avLst>
              <a:gd name="adj" fmla="val 4762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45" name="t-311"/>
          <p:cNvSpPr txBox="1"/>
          <p:nvPr/>
        </p:nvSpPr>
        <p:spPr>
          <a:xfrm>
            <a:off x="4636008" y="438759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FIDCs investidos</a:t>
            </a:r>
            <a:pPr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   26 posições</a:t>
            </a:r>
            <a:endParaRPr lang="en-US" sz="1150" dirty="0"/>
          </a:p>
        </p:txBody>
      </p:sp>
      <p:sp>
        <p:nvSpPr>
          <p:cNvPr id="46" name="t-312"/>
          <p:cNvSpPr txBox="1"/>
          <p:nvPr/>
        </p:nvSpPr>
        <p:spPr>
          <a:xfrm>
            <a:off x="8019288" y="43693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26,5%</a:t>
            </a:r>
            <a:endParaRPr lang="en-US" sz="1400" dirty="0"/>
          </a:p>
        </p:txBody>
      </p:sp>
      <p:sp>
        <p:nvSpPr>
          <p:cNvPr id="47" name="t-313"/>
          <p:cNvSpPr txBox="1"/>
          <p:nvPr/>
        </p:nvSpPr>
        <p:spPr>
          <a:xfrm>
            <a:off x="4636008" y="4643628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RED Multisetorial</a:t>
            </a:r>
            <a:endParaRPr lang="en-US" sz="950" dirty="0"/>
          </a:p>
        </p:txBody>
      </p:sp>
      <p:sp>
        <p:nvSpPr>
          <p:cNvPr id="48" name="t-314"/>
          <p:cNvSpPr txBox="1"/>
          <p:nvPr/>
        </p:nvSpPr>
        <p:spPr>
          <a:xfrm>
            <a:off x="6236208" y="4643628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2,9%</a:t>
            </a:r>
            <a:endParaRPr lang="en-US" sz="950" dirty="0"/>
          </a:p>
        </p:txBody>
      </p:sp>
      <p:sp>
        <p:nvSpPr>
          <p:cNvPr id="49" name="t-315"/>
          <p:cNvSpPr txBox="1"/>
          <p:nvPr/>
        </p:nvSpPr>
        <p:spPr>
          <a:xfrm>
            <a:off x="6830568" y="4643628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Futuro Previdência Consig.</a:t>
            </a:r>
            <a:endParaRPr lang="en-US" sz="950" dirty="0"/>
          </a:p>
        </p:txBody>
      </p:sp>
      <p:sp>
        <p:nvSpPr>
          <p:cNvPr id="50" name="t-316"/>
          <p:cNvSpPr txBox="1"/>
          <p:nvPr/>
        </p:nvSpPr>
        <p:spPr>
          <a:xfrm>
            <a:off x="8430768" y="4643628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2,5%</a:t>
            </a:r>
            <a:endParaRPr lang="en-US" sz="950" dirty="0"/>
          </a:p>
        </p:txBody>
      </p:sp>
      <p:sp>
        <p:nvSpPr>
          <p:cNvPr id="51" name="t-317"/>
          <p:cNvSpPr txBox="1"/>
          <p:nvPr/>
        </p:nvSpPr>
        <p:spPr>
          <a:xfrm>
            <a:off x="4636008" y="4831080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Ironwood Consig Multi I</a:t>
            </a:r>
            <a:endParaRPr lang="en-US" sz="950" dirty="0"/>
          </a:p>
        </p:txBody>
      </p:sp>
      <p:sp>
        <p:nvSpPr>
          <p:cNvPr id="52" name="t-318"/>
          <p:cNvSpPr txBox="1"/>
          <p:nvPr/>
        </p:nvSpPr>
        <p:spPr>
          <a:xfrm>
            <a:off x="6236208" y="4831080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2,0%</a:t>
            </a:r>
            <a:endParaRPr lang="en-US" sz="950" dirty="0"/>
          </a:p>
        </p:txBody>
      </p:sp>
      <p:sp>
        <p:nvSpPr>
          <p:cNvPr id="53" name="t-319"/>
          <p:cNvSpPr txBox="1"/>
          <p:nvPr/>
        </p:nvSpPr>
        <p:spPr>
          <a:xfrm>
            <a:off x="6830568" y="4831080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Multiplike</a:t>
            </a:r>
            <a:endParaRPr lang="en-US" sz="950" dirty="0"/>
          </a:p>
        </p:txBody>
      </p:sp>
      <p:sp>
        <p:nvSpPr>
          <p:cNvPr id="54" name="t-320"/>
          <p:cNvSpPr txBox="1"/>
          <p:nvPr/>
        </p:nvSpPr>
        <p:spPr>
          <a:xfrm>
            <a:off x="8430768" y="4831080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1,6%</a:t>
            </a:r>
            <a:endParaRPr lang="en-US" sz="950" dirty="0"/>
          </a:p>
        </p:txBody>
      </p:sp>
      <p:sp>
        <p:nvSpPr>
          <p:cNvPr id="55" name="t-321"/>
          <p:cNvSpPr txBox="1"/>
          <p:nvPr/>
        </p:nvSpPr>
        <p:spPr>
          <a:xfrm>
            <a:off x="4636008" y="5018532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Valorem</a:t>
            </a:r>
            <a:endParaRPr lang="en-US" sz="950" dirty="0"/>
          </a:p>
        </p:txBody>
      </p:sp>
      <p:sp>
        <p:nvSpPr>
          <p:cNvPr id="56" name="t-322"/>
          <p:cNvSpPr txBox="1"/>
          <p:nvPr/>
        </p:nvSpPr>
        <p:spPr>
          <a:xfrm>
            <a:off x="6236208" y="5018532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1,4%</a:t>
            </a:r>
            <a:endParaRPr lang="en-US" sz="950" dirty="0"/>
          </a:p>
        </p:txBody>
      </p:sp>
      <p:sp>
        <p:nvSpPr>
          <p:cNvPr id="57" name="t-323"/>
          <p:cNvSpPr txBox="1"/>
          <p:nvPr/>
        </p:nvSpPr>
        <p:spPr>
          <a:xfrm>
            <a:off x="6830568" y="5018532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Garson</a:t>
            </a:r>
            <a:endParaRPr lang="en-US" sz="950" dirty="0"/>
          </a:p>
        </p:txBody>
      </p:sp>
      <p:sp>
        <p:nvSpPr>
          <p:cNvPr id="58" name="t-324"/>
          <p:cNvSpPr txBox="1"/>
          <p:nvPr/>
        </p:nvSpPr>
        <p:spPr>
          <a:xfrm>
            <a:off x="8430768" y="5018532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1,3%</a:t>
            </a:r>
            <a:endParaRPr lang="en-US" sz="950" dirty="0"/>
          </a:p>
        </p:txBody>
      </p:sp>
      <p:sp>
        <p:nvSpPr>
          <p:cNvPr id="59" name="t-325"/>
          <p:cNvSpPr txBox="1"/>
          <p:nvPr/>
        </p:nvSpPr>
        <p:spPr>
          <a:xfrm>
            <a:off x="4636008" y="5205984"/>
            <a:ext cx="42976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+ 20 outras posições somando 14,8%</a:t>
            </a:r>
            <a:endParaRPr lang="en-US" sz="900" dirty="0"/>
          </a:p>
        </p:txBody>
      </p:sp>
      <p:sp>
        <p:nvSpPr>
          <p:cNvPr id="60" name="box-326"/>
          <p:cNvSpPr/>
          <p:nvPr/>
        </p:nvSpPr>
        <p:spPr>
          <a:xfrm>
            <a:off x="4498848" y="5582412"/>
            <a:ext cx="4572000" cy="589788"/>
          </a:xfrm>
          <a:prstGeom prst="roundRect">
            <a:avLst>
              <a:gd name="adj" fmla="val 9302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61" name="t-327"/>
          <p:cNvSpPr txBox="1"/>
          <p:nvPr/>
        </p:nvSpPr>
        <p:spPr>
          <a:xfrm>
            <a:off x="4636008" y="56372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Caixa e fundos RF</a:t>
            </a:r>
            <a:pPr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   2 posições</a:t>
            </a:r>
            <a:endParaRPr lang="en-US" sz="1150" dirty="0"/>
          </a:p>
        </p:txBody>
      </p:sp>
      <p:sp>
        <p:nvSpPr>
          <p:cNvPr id="62" name="t-328"/>
          <p:cNvSpPr txBox="1"/>
          <p:nvPr/>
        </p:nvSpPr>
        <p:spPr>
          <a:xfrm>
            <a:off x="8019288" y="56189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11,4%</a:t>
            </a:r>
            <a:endParaRPr lang="en-US" sz="1400" dirty="0"/>
          </a:p>
        </p:txBody>
      </p:sp>
      <p:sp>
        <p:nvSpPr>
          <p:cNvPr id="63" name="t-329"/>
          <p:cNvSpPr txBox="1"/>
          <p:nvPr/>
        </p:nvSpPr>
        <p:spPr>
          <a:xfrm>
            <a:off x="4636008" y="5893308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BTG Pactual CDB I FI RF</a:t>
            </a:r>
            <a:endParaRPr lang="en-US" sz="950" dirty="0"/>
          </a:p>
        </p:txBody>
      </p:sp>
      <p:sp>
        <p:nvSpPr>
          <p:cNvPr id="64" name="t-330"/>
          <p:cNvSpPr txBox="1"/>
          <p:nvPr/>
        </p:nvSpPr>
        <p:spPr>
          <a:xfrm>
            <a:off x="6236208" y="5893308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10,8%</a:t>
            </a:r>
            <a:endParaRPr lang="en-US" sz="950" dirty="0"/>
          </a:p>
        </p:txBody>
      </p:sp>
      <p:sp>
        <p:nvSpPr>
          <p:cNvPr id="65" name="t-331"/>
          <p:cNvSpPr txBox="1"/>
          <p:nvPr/>
        </p:nvSpPr>
        <p:spPr>
          <a:xfrm>
            <a:off x="6830568" y="5893308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LFT (Tesouro)</a:t>
            </a:r>
            <a:endParaRPr lang="en-US" sz="950" dirty="0"/>
          </a:p>
        </p:txBody>
      </p:sp>
      <p:sp>
        <p:nvSpPr>
          <p:cNvPr id="66" name="t-332"/>
          <p:cNvSpPr txBox="1"/>
          <p:nvPr/>
        </p:nvSpPr>
        <p:spPr>
          <a:xfrm>
            <a:off x="8430768" y="5893308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0,6%</a:t>
            </a:r>
            <a:endParaRPr lang="en-US" sz="950" dirty="0"/>
          </a:p>
        </p:txBody>
      </p:sp>
      <p:sp>
        <p:nvSpPr>
          <p:cNvPr id="67" name="ln-333"/>
          <p:cNvSpPr/>
          <p:nvPr/>
        </p:nvSpPr>
        <p:spPr>
          <a:xfrm>
            <a:off x="2057400" y="3909060"/>
            <a:ext cx="169164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68" name="ln-334"/>
          <p:cNvSpPr/>
          <p:nvPr/>
        </p:nvSpPr>
        <p:spPr>
          <a:xfrm>
            <a:off x="2226564" y="2354580"/>
            <a:ext cx="0" cy="155448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69" name="ln-335"/>
          <p:cNvSpPr/>
          <p:nvPr/>
        </p:nvSpPr>
        <p:spPr>
          <a:xfrm>
            <a:off x="2226564" y="2354580"/>
            <a:ext cx="169164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70" name="ln-336"/>
          <p:cNvSpPr/>
          <p:nvPr/>
        </p:nvSpPr>
        <p:spPr>
          <a:xfrm>
            <a:off x="2057400" y="3909060"/>
            <a:ext cx="169164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71" name="ln-337"/>
          <p:cNvSpPr/>
          <p:nvPr/>
        </p:nvSpPr>
        <p:spPr>
          <a:xfrm>
            <a:off x="2226564" y="3131820"/>
            <a:ext cx="0" cy="77724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72" name="ln-338"/>
          <p:cNvSpPr/>
          <p:nvPr/>
        </p:nvSpPr>
        <p:spPr>
          <a:xfrm>
            <a:off x="2226564" y="3131820"/>
            <a:ext cx="169164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73" name="ln-339"/>
          <p:cNvSpPr/>
          <p:nvPr/>
        </p:nvSpPr>
        <p:spPr>
          <a:xfrm>
            <a:off x="2057400" y="3909060"/>
            <a:ext cx="169164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74" name="ln-340"/>
          <p:cNvSpPr/>
          <p:nvPr/>
        </p:nvSpPr>
        <p:spPr>
          <a:xfrm>
            <a:off x="2226564" y="3909060"/>
            <a:ext cx="169164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75" name="ln-341"/>
          <p:cNvSpPr/>
          <p:nvPr/>
        </p:nvSpPr>
        <p:spPr>
          <a:xfrm>
            <a:off x="2057400" y="3909060"/>
            <a:ext cx="169164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76" name="ln-342"/>
          <p:cNvSpPr/>
          <p:nvPr/>
        </p:nvSpPr>
        <p:spPr>
          <a:xfrm>
            <a:off x="2226564" y="3909060"/>
            <a:ext cx="0" cy="77724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77" name="ln-343"/>
          <p:cNvSpPr/>
          <p:nvPr/>
        </p:nvSpPr>
        <p:spPr>
          <a:xfrm>
            <a:off x="2226564" y="4686300"/>
            <a:ext cx="169164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78" name="ln-344"/>
          <p:cNvSpPr/>
          <p:nvPr/>
        </p:nvSpPr>
        <p:spPr>
          <a:xfrm>
            <a:off x="2057400" y="3909060"/>
            <a:ext cx="169164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79" name="ln-345"/>
          <p:cNvSpPr/>
          <p:nvPr/>
        </p:nvSpPr>
        <p:spPr>
          <a:xfrm>
            <a:off x="2226564" y="3909060"/>
            <a:ext cx="0" cy="155448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80" name="ln-346"/>
          <p:cNvSpPr/>
          <p:nvPr/>
        </p:nvSpPr>
        <p:spPr>
          <a:xfrm>
            <a:off x="2226564" y="5463540"/>
            <a:ext cx="169164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81" name="ln-347"/>
          <p:cNvSpPr/>
          <p:nvPr/>
        </p:nvSpPr>
        <p:spPr>
          <a:xfrm>
            <a:off x="4133088" y="2354580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82" name="ln-348"/>
          <p:cNvSpPr/>
          <p:nvPr/>
        </p:nvSpPr>
        <p:spPr>
          <a:xfrm>
            <a:off x="4315968" y="2315718"/>
            <a:ext cx="0" cy="38862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83" name="ln-349"/>
          <p:cNvSpPr/>
          <p:nvPr/>
        </p:nvSpPr>
        <p:spPr>
          <a:xfrm>
            <a:off x="4315968" y="2315718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84" name="ln-350"/>
          <p:cNvSpPr/>
          <p:nvPr/>
        </p:nvSpPr>
        <p:spPr>
          <a:xfrm>
            <a:off x="4133088" y="3131820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85" name="ln-351"/>
          <p:cNvSpPr/>
          <p:nvPr/>
        </p:nvSpPr>
        <p:spPr>
          <a:xfrm>
            <a:off x="4315968" y="3131820"/>
            <a:ext cx="0" cy="527304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86" name="ln-352"/>
          <p:cNvSpPr/>
          <p:nvPr/>
        </p:nvSpPr>
        <p:spPr>
          <a:xfrm>
            <a:off x="4315968" y="3659124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87" name="ln-353"/>
          <p:cNvSpPr/>
          <p:nvPr/>
        </p:nvSpPr>
        <p:spPr>
          <a:xfrm>
            <a:off x="4133088" y="3909060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88" name="ln-354"/>
          <p:cNvSpPr/>
          <p:nvPr/>
        </p:nvSpPr>
        <p:spPr>
          <a:xfrm>
            <a:off x="4315968" y="3909060"/>
            <a:ext cx="0" cy="1968246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89" name="ln-355"/>
          <p:cNvSpPr/>
          <p:nvPr/>
        </p:nvSpPr>
        <p:spPr>
          <a:xfrm>
            <a:off x="4315968" y="5877306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90" name="ln-356"/>
          <p:cNvSpPr/>
          <p:nvPr/>
        </p:nvSpPr>
        <p:spPr>
          <a:xfrm>
            <a:off x="4133088" y="4686300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91" name="ln-357"/>
          <p:cNvSpPr/>
          <p:nvPr/>
        </p:nvSpPr>
        <p:spPr>
          <a:xfrm>
            <a:off x="4315968" y="4686300"/>
            <a:ext cx="0" cy="222504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92" name="ln-358"/>
          <p:cNvSpPr/>
          <p:nvPr/>
        </p:nvSpPr>
        <p:spPr>
          <a:xfrm>
            <a:off x="4315968" y="4908804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93" name="ln-359"/>
          <p:cNvSpPr/>
          <p:nvPr/>
        </p:nvSpPr>
        <p:spPr>
          <a:xfrm>
            <a:off x="4133088" y="5463540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94" name="ln-360"/>
          <p:cNvSpPr/>
          <p:nvPr/>
        </p:nvSpPr>
        <p:spPr>
          <a:xfrm>
            <a:off x="4315968" y="4908804"/>
            <a:ext cx="0" cy="554736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95" name="ln-361"/>
          <p:cNvSpPr/>
          <p:nvPr/>
        </p:nvSpPr>
        <p:spPr>
          <a:xfrm>
            <a:off x="4315968" y="4908804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96" name="box-362"/>
          <p:cNvSpPr/>
          <p:nvPr/>
        </p:nvSpPr>
        <p:spPr>
          <a:xfrm>
            <a:off x="457200" y="3223260"/>
            <a:ext cx="1600200" cy="1371600"/>
          </a:xfrm>
          <a:prstGeom prst="roundRect">
            <a:avLst>
              <a:gd name="adj" fmla="val 4000"/>
            </a:avLst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sp>
        <p:nvSpPr>
          <p:cNvPr id="97" name="t-363"/>
          <p:cNvSpPr txBox="1"/>
          <p:nvPr/>
        </p:nvSpPr>
        <p:spPr>
          <a:xfrm>
            <a:off x="566928" y="3314700"/>
            <a:ext cx="1380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Brave Iron FIRF</a:t>
            </a: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R$ 58,2 mi</a:t>
            </a:r>
            <a:endParaRPr lang="en-US" sz="1000" dirty="0"/>
          </a:p>
        </p:txBody>
      </p:sp>
      <p:sp>
        <p:nvSpPr>
          <p:cNvPr id="98" name="box-364"/>
          <p:cNvSpPr/>
          <p:nvPr/>
        </p:nvSpPr>
        <p:spPr>
          <a:xfrm>
            <a:off x="2395728" y="208026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A8823F"/>
            </a:solidFill>
            <a:prstDash val="solid"/>
          </a:ln>
        </p:spPr>
      </p:sp>
      <p:sp>
        <p:nvSpPr>
          <p:cNvPr id="99" name="t-365"/>
          <p:cNvSpPr txBox="1"/>
          <p:nvPr/>
        </p:nvSpPr>
        <p:spPr>
          <a:xfrm>
            <a:off x="2487168" y="21168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Debênture</a:t>
            </a:r>
            <a:endParaRPr lang="en-US" sz="1000" dirty="0"/>
          </a:p>
        </p:txBody>
      </p:sp>
      <p:sp>
        <p:nvSpPr>
          <p:cNvPr id="100" name="t-366"/>
          <p:cNvSpPr txBox="1"/>
          <p:nvPr/>
        </p:nvSpPr>
        <p:spPr>
          <a:xfrm>
            <a:off x="2487168" y="23362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30%</a:t>
            </a:r>
            <a:endParaRPr lang="en-US" sz="1400" dirty="0"/>
          </a:p>
        </p:txBody>
      </p:sp>
      <p:sp>
        <p:nvSpPr>
          <p:cNvPr id="101" name="box-367"/>
          <p:cNvSpPr/>
          <p:nvPr/>
        </p:nvSpPr>
        <p:spPr>
          <a:xfrm>
            <a:off x="2395728" y="285750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A8823F"/>
            </a:solidFill>
            <a:prstDash val="solid"/>
          </a:ln>
        </p:spPr>
      </p:sp>
      <p:sp>
        <p:nvSpPr>
          <p:cNvPr id="102" name="t-368"/>
          <p:cNvSpPr txBox="1"/>
          <p:nvPr/>
        </p:nvSpPr>
        <p:spPr>
          <a:xfrm>
            <a:off x="2487168" y="28940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Bancário</a:t>
            </a:r>
            <a:endParaRPr lang="en-US" sz="1000" dirty="0"/>
          </a:p>
        </p:txBody>
      </p:sp>
      <p:sp>
        <p:nvSpPr>
          <p:cNvPr id="103" name="t-369"/>
          <p:cNvSpPr txBox="1"/>
          <p:nvPr/>
        </p:nvSpPr>
        <p:spPr>
          <a:xfrm>
            <a:off x="2487168" y="31135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25%</a:t>
            </a:r>
            <a:endParaRPr lang="en-US" sz="1400" dirty="0"/>
          </a:p>
        </p:txBody>
      </p:sp>
      <p:sp>
        <p:nvSpPr>
          <p:cNvPr id="104" name="box-370"/>
          <p:cNvSpPr/>
          <p:nvPr/>
        </p:nvSpPr>
        <p:spPr>
          <a:xfrm>
            <a:off x="2395728" y="363474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A8823F"/>
            </a:solidFill>
            <a:prstDash val="solid"/>
          </a:ln>
        </p:spPr>
      </p:sp>
      <p:sp>
        <p:nvSpPr>
          <p:cNvPr id="105" name="t-371"/>
          <p:cNvSpPr txBox="1"/>
          <p:nvPr/>
        </p:nvSpPr>
        <p:spPr>
          <a:xfrm>
            <a:off x="2487168" y="36713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Caixa*</a:t>
            </a:r>
            <a:endParaRPr lang="en-US" sz="1000" dirty="0"/>
          </a:p>
        </p:txBody>
      </p:sp>
      <p:sp>
        <p:nvSpPr>
          <p:cNvPr id="106" name="t-372"/>
          <p:cNvSpPr txBox="1"/>
          <p:nvPr/>
        </p:nvSpPr>
        <p:spPr>
          <a:xfrm>
            <a:off x="2487168" y="38907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23%</a:t>
            </a:r>
            <a:endParaRPr lang="en-US" sz="1400" dirty="0"/>
          </a:p>
        </p:txBody>
      </p:sp>
      <p:sp>
        <p:nvSpPr>
          <p:cNvPr id="107" name="box-373"/>
          <p:cNvSpPr/>
          <p:nvPr/>
        </p:nvSpPr>
        <p:spPr>
          <a:xfrm>
            <a:off x="2395728" y="441198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A8823F"/>
            </a:solidFill>
            <a:prstDash val="solid"/>
          </a:ln>
        </p:spPr>
      </p:sp>
      <p:sp>
        <p:nvSpPr>
          <p:cNvPr id="108" name="t-374"/>
          <p:cNvSpPr txBox="1"/>
          <p:nvPr/>
        </p:nvSpPr>
        <p:spPr>
          <a:xfrm>
            <a:off x="2487168" y="44485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FIDC Sênior</a:t>
            </a:r>
            <a:endParaRPr lang="en-US" sz="1000" dirty="0"/>
          </a:p>
        </p:txBody>
      </p:sp>
      <p:sp>
        <p:nvSpPr>
          <p:cNvPr id="109" name="t-375"/>
          <p:cNvSpPr txBox="1"/>
          <p:nvPr/>
        </p:nvSpPr>
        <p:spPr>
          <a:xfrm>
            <a:off x="2487168" y="46680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19%</a:t>
            </a:r>
            <a:endParaRPr lang="en-US" sz="1400" dirty="0"/>
          </a:p>
        </p:txBody>
      </p:sp>
      <p:sp>
        <p:nvSpPr>
          <p:cNvPr id="110" name="box-376"/>
          <p:cNvSpPr/>
          <p:nvPr/>
        </p:nvSpPr>
        <p:spPr>
          <a:xfrm>
            <a:off x="2395728" y="518922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A8823F"/>
            </a:solidFill>
            <a:prstDash val="solid"/>
          </a:ln>
        </p:spPr>
      </p:sp>
      <p:sp>
        <p:nvSpPr>
          <p:cNvPr id="111" name="t-377"/>
          <p:cNvSpPr txBox="1"/>
          <p:nvPr/>
        </p:nvSpPr>
        <p:spPr>
          <a:xfrm>
            <a:off x="2487168" y="52257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FIDC Mezanino</a:t>
            </a:r>
            <a:endParaRPr lang="en-US" sz="1000" dirty="0"/>
          </a:p>
        </p:txBody>
      </p:sp>
      <p:sp>
        <p:nvSpPr>
          <p:cNvPr id="112" name="t-378"/>
          <p:cNvSpPr txBox="1"/>
          <p:nvPr/>
        </p:nvSpPr>
        <p:spPr>
          <a:xfrm>
            <a:off x="2487168" y="54452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2%</a:t>
            </a:r>
            <a:endParaRPr lang="en-US" sz="1400" dirty="0"/>
          </a:p>
        </p:txBody>
      </p:sp>
      <p:sp>
        <p:nvSpPr>
          <p:cNvPr id="113" name="ln-379"/>
          <p:cNvSpPr/>
          <p:nvPr/>
        </p:nvSpPr>
        <p:spPr>
          <a:xfrm>
            <a:off x="9070848" y="4908804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114" name="ln-380"/>
          <p:cNvSpPr/>
          <p:nvPr/>
        </p:nvSpPr>
        <p:spPr>
          <a:xfrm>
            <a:off x="9253728" y="4908804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115" name="box-381"/>
          <p:cNvSpPr/>
          <p:nvPr/>
        </p:nvSpPr>
        <p:spPr>
          <a:xfrm>
            <a:off x="9436608" y="2990088"/>
            <a:ext cx="2304288" cy="3182112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9C7A3"/>
            </a:solidFill>
            <a:prstDash val="solid"/>
          </a:ln>
        </p:spPr>
      </p:sp>
      <p:sp>
        <p:nvSpPr>
          <p:cNvPr id="116" name="t-382"/>
          <p:cNvSpPr txBox="1"/>
          <p:nvPr/>
        </p:nvSpPr>
        <p:spPr>
          <a:xfrm>
            <a:off x="9546336" y="306324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Recebíveis · % do PL do fundo</a:t>
            </a:r>
            <a:endParaRPr lang="en-US" sz="950" dirty="0"/>
          </a:p>
        </p:txBody>
      </p:sp>
      <p:sp>
        <p:nvSpPr>
          <p:cNvPr id="117" name="t-383"/>
          <p:cNvSpPr txBox="1"/>
          <p:nvPr/>
        </p:nvSpPr>
        <p:spPr>
          <a:xfrm>
            <a:off x="9546336" y="3374136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Crédito pessoal e corp.</a:t>
            </a:r>
            <a:endParaRPr lang="en-US" sz="850" dirty="0"/>
          </a:p>
        </p:txBody>
      </p:sp>
      <p:sp>
        <p:nvSpPr>
          <p:cNvPr id="118" name="bar-384"/>
          <p:cNvSpPr/>
          <p:nvPr/>
        </p:nvSpPr>
        <p:spPr>
          <a:xfrm>
            <a:off x="9546336" y="3520440"/>
            <a:ext cx="1435608" cy="82296"/>
          </a:xfrm>
          <a:prstGeom prst="rect">
            <a:avLst/>
          </a:prstGeom>
          <a:solidFill>
            <a:srgbClr val="A8823F"/>
          </a:solidFill>
          <a:ln/>
        </p:spPr>
      </p:sp>
      <p:sp>
        <p:nvSpPr>
          <p:cNvPr id="119" name="t-385"/>
          <p:cNvSpPr txBox="1"/>
          <p:nvPr/>
        </p:nvSpPr>
        <p:spPr>
          <a:xfrm>
            <a:off x="11119104" y="343814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8,0%</a:t>
            </a:r>
            <a:endParaRPr lang="en-US" sz="850" dirty="0"/>
          </a:p>
        </p:txBody>
      </p:sp>
      <p:sp>
        <p:nvSpPr>
          <p:cNvPr id="120" name="t-386"/>
          <p:cNvSpPr txBox="1"/>
          <p:nvPr/>
        </p:nvSpPr>
        <p:spPr>
          <a:xfrm>
            <a:off x="9546336" y="3648456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Comércio/varejo</a:t>
            </a:r>
            <a:endParaRPr lang="en-US" sz="850" dirty="0"/>
          </a:p>
        </p:txBody>
      </p:sp>
      <p:sp>
        <p:nvSpPr>
          <p:cNvPr id="121" name="bar-387"/>
          <p:cNvSpPr/>
          <p:nvPr/>
        </p:nvSpPr>
        <p:spPr>
          <a:xfrm>
            <a:off x="9546336" y="3794760"/>
            <a:ext cx="1255416" cy="82296"/>
          </a:xfrm>
          <a:prstGeom prst="rect">
            <a:avLst/>
          </a:prstGeom>
          <a:solidFill>
            <a:srgbClr val="A8823F"/>
          </a:solidFill>
          <a:ln/>
        </p:spPr>
      </p:sp>
      <p:sp>
        <p:nvSpPr>
          <p:cNvPr id="122" name="t-388"/>
          <p:cNvSpPr txBox="1"/>
          <p:nvPr/>
        </p:nvSpPr>
        <p:spPr>
          <a:xfrm>
            <a:off x="11119104" y="371246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7,0%</a:t>
            </a:r>
            <a:endParaRPr lang="en-US" sz="850" dirty="0"/>
          </a:p>
        </p:txBody>
      </p:sp>
      <p:sp>
        <p:nvSpPr>
          <p:cNvPr id="123" name="t-389"/>
          <p:cNvSpPr txBox="1"/>
          <p:nvPr/>
        </p:nvSpPr>
        <p:spPr>
          <a:xfrm>
            <a:off x="9546336" y="3922776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Indústria</a:t>
            </a:r>
            <a:endParaRPr lang="en-US" sz="850" dirty="0"/>
          </a:p>
        </p:txBody>
      </p:sp>
      <p:sp>
        <p:nvSpPr>
          <p:cNvPr id="124" name="bar-390"/>
          <p:cNvSpPr/>
          <p:nvPr/>
        </p:nvSpPr>
        <p:spPr>
          <a:xfrm>
            <a:off x="9546336" y="4069080"/>
            <a:ext cx="805015" cy="82296"/>
          </a:xfrm>
          <a:prstGeom prst="rect">
            <a:avLst/>
          </a:prstGeom>
          <a:solidFill>
            <a:srgbClr val="A8823F"/>
          </a:solidFill>
          <a:ln/>
        </p:spPr>
      </p:sp>
      <p:sp>
        <p:nvSpPr>
          <p:cNvPr id="125" name="t-391"/>
          <p:cNvSpPr txBox="1"/>
          <p:nvPr/>
        </p:nvSpPr>
        <p:spPr>
          <a:xfrm>
            <a:off x="11119104" y="398678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4,5%</a:t>
            </a:r>
            <a:endParaRPr lang="en-US" sz="850" dirty="0"/>
          </a:p>
        </p:txBody>
      </p:sp>
      <p:sp>
        <p:nvSpPr>
          <p:cNvPr id="126" name="t-392"/>
          <p:cNvSpPr txBox="1"/>
          <p:nvPr/>
        </p:nvSpPr>
        <p:spPr>
          <a:xfrm>
            <a:off x="9546336" y="4197096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Crédito consignado</a:t>
            </a:r>
            <a:endParaRPr lang="en-US" sz="850" dirty="0"/>
          </a:p>
        </p:txBody>
      </p:sp>
      <p:sp>
        <p:nvSpPr>
          <p:cNvPr id="127" name="bar-393"/>
          <p:cNvSpPr/>
          <p:nvPr/>
        </p:nvSpPr>
        <p:spPr>
          <a:xfrm>
            <a:off x="9546336" y="4343400"/>
            <a:ext cx="460758" cy="82296"/>
          </a:xfrm>
          <a:prstGeom prst="rect">
            <a:avLst/>
          </a:prstGeom>
          <a:solidFill>
            <a:srgbClr val="A8823F"/>
          </a:solidFill>
          <a:ln/>
        </p:spPr>
      </p:sp>
      <p:sp>
        <p:nvSpPr>
          <p:cNvPr id="128" name="t-394"/>
          <p:cNvSpPr txBox="1"/>
          <p:nvPr/>
        </p:nvSpPr>
        <p:spPr>
          <a:xfrm>
            <a:off x="11119104" y="426110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2,6%</a:t>
            </a:r>
            <a:endParaRPr lang="en-US" sz="850" dirty="0"/>
          </a:p>
        </p:txBody>
      </p:sp>
      <p:sp>
        <p:nvSpPr>
          <p:cNvPr id="129" name="t-395"/>
          <p:cNvSpPr txBox="1"/>
          <p:nvPr/>
        </p:nvSpPr>
        <p:spPr>
          <a:xfrm>
            <a:off x="9546336" y="4471416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Caixa dos FIDCs</a:t>
            </a:r>
            <a:endParaRPr lang="en-US" sz="850" dirty="0"/>
          </a:p>
        </p:txBody>
      </p:sp>
      <p:sp>
        <p:nvSpPr>
          <p:cNvPr id="130" name="bar-396"/>
          <p:cNvSpPr/>
          <p:nvPr/>
        </p:nvSpPr>
        <p:spPr>
          <a:xfrm>
            <a:off x="9546336" y="4617720"/>
            <a:ext cx="321052" cy="82296"/>
          </a:xfrm>
          <a:prstGeom prst="rect">
            <a:avLst/>
          </a:prstGeom>
          <a:solidFill>
            <a:srgbClr val="7A8599"/>
          </a:solidFill>
          <a:ln/>
        </p:spPr>
      </p:sp>
      <p:sp>
        <p:nvSpPr>
          <p:cNvPr id="131" name="t-397"/>
          <p:cNvSpPr txBox="1"/>
          <p:nvPr/>
        </p:nvSpPr>
        <p:spPr>
          <a:xfrm>
            <a:off x="11119104" y="453542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1,8%</a:t>
            </a:r>
            <a:endParaRPr lang="en-US" sz="850" dirty="0"/>
          </a:p>
        </p:txBody>
      </p:sp>
      <p:sp>
        <p:nvSpPr>
          <p:cNvPr id="132" name="t-398"/>
          <p:cNvSpPr txBox="1"/>
          <p:nvPr/>
        </p:nvSpPr>
        <p:spPr>
          <a:xfrm>
            <a:off x="9546336" y="4745736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Serviços</a:t>
            </a:r>
            <a:endParaRPr lang="en-US" sz="850" dirty="0"/>
          </a:p>
        </p:txBody>
      </p:sp>
      <p:sp>
        <p:nvSpPr>
          <p:cNvPr id="133" name="bar-399"/>
          <p:cNvSpPr/>
          <p:nvPr/>
        </p:nvSpPr>
        <p:spPr>
          <a:xfrm>
            <a:off x="9546336" y="4892040"/>
            <a:ext cx="273897" cy="82296"/>
          </a:xfrm>
          <a:prstGeom prst="rect">
            <a:avLst/>
          </a:prstGeom>
          <a:solidFill>
            <a:srgbClr val="A8823F"/>
          </a:solidFill>
          <a:ln/>
        </p:spPr>
      </p:sp>
      <p:sp>
        <p:nvSpPr>
          <p:cNvPr id="134" name="t-400"/>
          <p:cNvSpPr txBox="1"/>
          <p:nvPr/>
        </p:nvSpPr>
        <p:spPr>
          <a:xfrm>
            <a:off x="11119104" y="480974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1,5%</a:t>
            </a:r>
            <a:endParaRPr lang="en-US" sz="850" dirty="0"/>
          </a:p>
        </p:txBody>
      </p:sp>
      <p:sp>
        <p:nvSpPr>
          <p:cNvPr id="135" name="t-401"/>
          <p:cNvSpPr txBox="1"/>
          <p:nvPr/>
        </p:nvSpPr>
        <p:spPr>
          <a:xfrm>
            <a:off x="9546336" y="5020056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Sem abertura (FIC/Fiagro)</a:t>
            </a:r>
            <a:endParaRPr lang="en-US" sz="850" dirty="0"/>
          </a:p>
        </p:txBody>
      </p:sp>
      <p:sp>
        <p:nvSpPr>
          <p:cNvPr id="136" name="bar-402"/>
          <p:cNvSpPr/>
          <p:nvPr/>
        </p:nvSpPr>
        <p:spPr>
          <a:xfrm>
            <a:off x="9546336" y="5166360"/>
            <a:ext cx="213161" cy="82296"/>
          </a:xfrm>
          <a:prstGeom prst="rect">
            <a:avLst/>
          </a:prstGeom>
          <a:solidFill>
            <a:srgbClr val="7A8599"/>
          </a:solidFill>
          <a:ln/>
        </p:spPr>
      </p:sp>
      <p:sp>
        <p:nvSpPr>
          <p:cNvPr id="137" name="t-403"/>
          <p:cNvSpPr txBox="1"/>
          <p:nvPr/>
        </p:nvSpPr>
        <p:spPr>
          <a:xfrm>
            <a:off x="11119104" y="508406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1,2%</a:t>
            </a:r>
            <a:endParaRPr lang="en-US" sz="850" dirty="0"/>
          </a:p>
        </p:txBody>
      </p:sp>
      <p:sp>
        <p:nvSpPr>
          <p:cNvPr id="138" name="t-404"/>
          <p:cNvSpPr txBox="1"/>
          <p:nvPr/>
        </p:nvSpPr>
        <p:spPr>
          <a:xfrm>
            <a:off x="9546336" y="5294376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Imobiliário</a:t>
            </a:r>
            <a:endParaRPr lang="en-US" sz="850" dirty="0"/>
          </a:p>
        </p:txBody>
      </p:sp>
      <p:sp>
        <p:nvSpPr>
          <p:cNvPr id="139" name="bar-405"/>
          <p:cNvSpPr/>
          <p:nvPr/>
        </p:nvSpPr>
        <p:spPr>
          <a:xfrm>
            <a:off x="9546336" y="5440680"/>
            <a:ext cx="27432" cy="82296"/>
          </a:xfrm>
          <a:prstGeom prst="rect">
            <a:avLst/>
          </a:prstGeom>
          <a:solidFill>
            <a:srgbClr val="A8823F"/>
          </a:solidFill>
          <a:ln/>
        </p:spPr>
      </p:sp>
      <p:sp>
        <p:nvSpPr>
          <p:cNvPr id="140" name="t-406"/>
          <p:cNvSpPr txBox="1"/>
          <p:nvPr/>
        </p:nvSpPr>
        <p:spPr>
          <a:xfrm>
            <a:off x="11119104" y="535838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0,1%</a:t>
            </a:r>
            <a:endParaRPr lang="en-US" sz="850" dirty="0"/>
          </a:p>
        </p:txBody>
      </p:sp>
      <p:sp>
        <p:nvSpPr>
          <p:cNvPr id="141" name="t-407"/>
          <p:cNvSpPr txBox="1"/>
          <p:nvPr/>
        </p:nvSpPr>
        <p:spPr>
          <a:xfrm>
            <a:off x="9546336" y="5605272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chemeClr val="accent4"/>
                </a:solidFill>
              </a:rPr>
              <a:t>Rateio pela carteira de cada FIDC (Informe Mensal CVM). Não separa sênior/mezanino. “Crédito pessoal e corp.” inclui outros créditos financeiros.</a:t>
            </a:r>
            <a:endParaRPr lang="en-US" sz="800" dirty="0"/>
          </a:p>
        </p:txBody>
      </p:sp>
      <p:sp>
        <p:nvSpPr>
          <p:cNvPr id="142" name="t-408"/>
          <p:cNvSpPr txBox="1"/>
          <p:nvPr/>
        </p:nvSpPr>
        <p:spPr>
          <a:xfrm>
            <a:off x="457200" y="63276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4"/>
                </a:solidFill>
              </a:rPr>
              <a:t>Classes: lâmina set/26 · Ativos: CDA CVM 30/06/2026 (ago/26 em sigilo até 29/11/26) · Lastro: Informe Mensal FIDC CVM 06/2026  ·  *Caixa = zeragem e títulos públicos (nota da lâmina). % do nível 2 = lâmina set/26; % dos níveis 3–4 = data-base CVM indicada.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Brave Prev XP Seguros FIC FIRF</a:t>
            </a:r>
            <a:endParaRPr lang="en-US" sz="3000" dirty="0"/>
          </a:p>
        </p:txBody>
      </p:sp>
      <p:sp>
        <p:nvSpPr>
          <p:cNvPr id="3" name="t-409"/>
          <p:cNvSpPr txBox="1"/>
          <p:nvPr/>
        </p:nvSpPr>
        <p:spPr>
          <a:xfrm>
            <a:off x="457200" y="84124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CNPJ 51.675.926/0001-18  ·  PL R$ 514,9 mi (lâmina set/26)  ·  Resgate D+21  ·  Brave Prev FIFE FIRF CP · 49.933.828/0001-91 · 99,95% do PL (CDA 31/08/26)</a:t>
            </a:r>
            <a:endParaRPr lang="en-US" sz="1100" dirty="0"/>
          </a:p>
        </p:txBody>
      </p:sp>
      <p:sp>
        <p:nvSpPr>
          <p:cNvPr id="4" name="t-410"/>
          <p:cNvSpPr txBox="1"/>
          <p:nvPr/>
        </p:nvSpPr>
        <p:spPr>
          <a:xfrm>
            <a:off x="457200" y="12984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1  </a:t>
            </a:r>
            <a:pPr indent="0" marL="0">
              <a:buNone/>
            </a:pPr>
            <a:r>
              <a:rPr lang="en-US" sz="950" b="1" spc="100" kern="0" dirty="0">
                <a:solidFill>
                  <a:schemeClr val="accent2"/>
                </a:solidFill>
              </a:rPr>
              <a:t>FUNDO</a:t>
            </a:r>
            <a:endParaRPr lang="en-US" sz="950" dirty="0"/>
          </a:p>
        </p:txBody>
      </p:sp>
      <p:sp>
        <p:nvSpPr>
          <p:cNvPr id="5" name="t-411"/>
          <p:cNvSpPr txBox="1"/>
          <p:nvPr/>
        </p:nvSpPr>
        <p:spPr>
          <a:xfrm>
            <a:off x="2395728" y="12984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2  </a:t>
            </a:r>
            <a:pPr indent="0" marL="0">
              <a:buNone/>
            </a:pPr>
            <a:r>
              <a:rPr lang="en-US" sz="950" b="1" spc="100" kern="0" dirty="0">
                <a:solidFill>
                  <a:schemeClr val="accent2"/>
                </a:solidFill>
              </a:rPr>
              <a:t>CLASSES · lâmina</a:t>
            </a:r>
            <a:endParaRPr lang="en-US" sz="950" dirty="0"/>
          </a:p>
        </p:txBody>
      </p:sp>
      <p:sp>
        <p:nvSpPr>
          <p:cNvPr id="6" name="t-412"/>
          <p:cNvSpPr txBox="1"/>
          <p:nvPr/>
        </p:nvSpPr>
        <p:spPr>
          <a:xfrm>
            <a:off x="4498848" y="12984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3  </a:t>
            </a:r>
            <a:pPr indent="0" marL="0">
              <a:buNone/>
            </a:pPr>
            <a:r>
              <a:rPr lang="en-US" sz="950" b="1" spc="100" kern="0" dirty="0">
                <a:solidFill>
                  <a:schemeClr val="accent2"/>
                </a:solidFill>
              </a:rPr>
              <a:t>ATIVOS DO FIFE · CVM</a:t>
            </a:r>
            <a:endParaRPr lang="en-US" sz="950" dirty="0"/>
          </a:p>
        </p:txBody>
      </p:sp>
      <p:sp>
        <p:nvSpPr>
          <p:cNvPr id="7" name="t-413"/>
          <p:cNvSpPr txBox="1"/>
          <p:nvPr/>
        </p:nvSpPr>
        <p:spPr>
          <a:xfrm>
            <a:off x="9436608" y="129844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4  </a:t>
            </a:r>
            <a:pPr indent="0" marL="0">
              <a:buNone/>
            </a:pPr>
            <a:r>
              <a:rPr lang="en-US" sz="950" b="1" spc="100" kern="0" dirty="0">
                <a:solidFill>
                  <a:schemeClr val="accent2"/>
                </a:solidFill>
              </a:rPr>
              <a:t>LASTRO DOS FIDCs</a:t>
            </a:r>
            <a:endParaRPr lang="en-US" sz="950" dirty="0"/>
          </a:p>
        </p:txBody>
      </p:sp>
      <p:sp>
        <p:nvSpPr>
          <p:cNvPr id="8" name="box-414"/>
          <p:cNvSpPr/>
          <p:nvPr/>
        </p:nvSpPr>
        <p:spPr>
          <a:xfrm>
            <a:off x="4498848" y="1645920"/>
            <a:ext cx="4572000" cy="1339596"/>
          </a:xfrm>
          <a:prstGeom prst="roundRect">
            <a:avLst>
              <a:gd name="adj" fmla="val 4096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9" name="t-415"/>
          <p:cNvSpPr txBox="1"/>
          <p:nvPr/>
        </p:nvSpPr>
        <p:spPr>
          <a:xfrm>
            <a:off x="4636008" y="170078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Debêntures (código do ativo)</a:t>
            </a:r>
            <a:pPr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   49 posições</a:t>
            </a:r>
            <a:endParaRPr lang="en-US" sz="1150" dirty="0"/>
          </a:p>
        </p:txBody>
      </p:sp>
      <p:sp>
        <p:nvSpPr>
          <p:cNvPr id="10" name="t-416"/>
          <p:cNvSpPr txBox="1"/>
          <p:nvPr/>
        </p:nvSpPr>
        <p:spPr>
          <a:xfrm>
            <a:off x="8019288" y="16824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31,5%</a:t>
            </a:r>
            <a:endParaRPr lang="en-US" sz="1400" dirty="0"/>
          </a:p>
        </p:txBody>
      </p:sp>
      <p:sp>
        <p:nvSpPr>
          <p:cNvPr id="11" name="t-417"/>
          <p:cNvSpPr txBox="1"/>
          <p:nvPr/>
        </p:nvSpPr>
        <p:spPr>
          <a:xfrm>
            <a:off x="4636008" y="1956816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RDOR</a:t>
            </a:r>
            <a:endParaRPr lang="en-US" sz="950" dirty="0"/>
          </a:p>
        </p:txBody>
      </p:sp>
      <p:sp>
        <p:nvSpPr>
          <p:cNvPr id="12" name="t-418"/>
          <p:cNvSpPr txBox="1"/>
          <p:nvPr/>
        </p:nvSpPr>
        <p:spPr>
          <a:xfrm>
            <a:off x="6236208" y="1956816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2,3%</a:t>
            </a:r>
            <a:endParaRPr lang="en-US" sz="950" dirty="0"/>
          </a:p>
        </p:txBody>
      </p:sp>
      <p:sp>
        <p:nvSpPr>
          <p:cNvPr id="13" name="t-419"/>
          <p:cNvSpPr txBox="1"/>
          <p:nvPr/>
        </p:nvSpPr>
        <p:spPr>
          <a:xfrm>
            <a:off x="6830568" y="1956816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BSA3</a:t>
            </a:r>
            <a:endParaRPr lang="en-US" sz="950" dirty="0"/>
          </a:p>
        </p:txBody>
      </p:sp>
      <p:sp>
        <p:nvSpPr>
          <p:cNvPr id="14" name="t-420"/>
          <p:cNvSpPr txBox="1"/>
          <p:nvPr/>
        </p:nvSpPr>
        <p:spPr>
          <a:xfrm>
            <a:off x="8430768" y="1956816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2,0%</a:t>
            </a:r>
            <a:endParaRPr lang="en-US" sz="950" dirty="0"/>
          </a:p>
        </p:txBody>
      </p:sp>
      <p:sp>
        <p:nvSpPr>
          <p:cNvPr id="15" name="t-421"/>
          <p:cNvSpPr txBox="1"/>
          <p:nvPr/>
        </p:nvSpPr>
        <p:spPr>
          <a:xfrm>
            <a:off x="4636008" y="2144268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SBSP</a:t>
            </a:r>
            <a:endParaRPr lang="en-US" sz="950" dirty="0"/>
          </a:p>
        </p:txBody>
      </p:sp>
      <p:sp>
        <p:nvSpPr>
          <p:cNvPr id="16" name="t-422"/>
          <p:cNvSpPr txBox="1"/>
          <p:nvPr/>
        </p:nvSpPr>
        <p:spPr>
          <a:xfrm>
            <a:off x="6236208" y="2144268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1,6%</a:t>
            </a:r>
            <a:endParaRPr lang="en-US" sz="950" dirty="0"/>
          </a:p>
        </p:txBody>
      </p:sp>
      <p:sp>
        <p:nvSpPr>
          <p:cNvPr id="17" name="t-423"/>
          <p:cNvSpPr txBox="1"/>
          <p:nvPr/>
        </p:nvSpPr>
        <p:spPr>
          <a:xfrm>
            <a:off x="6830568" y="2144268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ISAE</a:t>
            </a:r>
            <a:endParaRPr lang="en-US" sz="950" dirty="0"/>
          </a:p>
        </p:txBody>
      </p:sp>
      <p:sp>
        <p:nvSpPr>
          <p:cNvPr id="18" name="t-424"/>
          <p:cNvSpPr txBox="1"/>
          <p:nvPr/>
        </p:nvSpPr>
        <p:spPr>
          <a:xfrm>
            <a:off x="8430768" y="2144268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1,3%</a:t>
            </a:r>
            <a:endParaRPr lang="en-US" sz="950" dirty="0"/>
          </a:p>
        </p:txBody>
      </p:sp>
      <p:sp>
        <p:nvSpPr>
          <p:cNvPr id="19" name="t-425"/>
          <p:cNvSpPr txBox="1"/>
          <p:nvPr/>
        </p:nvSpPr>
        <p:spPr>
          <a:xfrm>
            <a:off x="4636008" y="2331720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JHSF</a:t>
            </a:r>
            <a:endParaRPr lang="en-US" sz="950" dirty="0"/>
          </a:p>
        </p:txBody>
      </p:sp>
      <p:sp>
        <p:nvSpPr>
          <p:cNvPr id="20" name="t-426"/>
          <p:cNvSpPr txBox="1"/>
          <p:nvPr/>
        </p:nvSpPr>
        <p:spPr>
          <a:xfrm>
            <a:off x="6236208" y="2331720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1,3%</a:t>
            </a:r>
            <a:endParaRPr lang="en-US" sz="950" dirty="0"/>
          </a:p>
        </p:txBody>
      </p:sp>
      <p:sp>
        <p:nvSpPr>
          <p:cNvPr id="21" name="t-427"/>
          <p:cNvSpPr txBox="1"/>
          <p:nvPr/>
        </p:nvSpPr>
        <p:spPr>
          <a:xfrm>
            <a:off x="6830568" y="2331720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SNGO</a:t>
            </a:r>
            <a:endParaRPr lang="en-US" sz="950" dirty="0"/>
          </a:p>
        </p:txBody>
      </p:sp>
      <p:sp>
        <p:nvSpPr>
          <p:cNvPr id="22" name="t-428"/>
          <p:cNvSpPr txBox="1"/>
          <p:nvPr/>
        </p:nvSpPr>
        <p:spPr>
          <a:xfrm>
            <a:off x="8430768" y="2331720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1,2%</a:t>
            </a:r>
            <a:endParaRPr lang="en-US" sz="950" dirty="0"/>
          </a:p>
        </p:txBody>
      </p:sp>
      <p:sp>
        <p:nvSpPr>
          <p:cNvPr id="23" name="t-429"/>
          <p:cNvSpPr txBox="1"/>
          <p:nvPr/>
        </p:nvSpPr>
        <p:spPr>
          <a:xfrm>
            <a:off x="4636008" y="2519172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MULP</a:t>
            </a:r>
            <a:endParaRPr lang="en-US" sz="950" dirty="0"/>
          </a:p>
        </p:txBody>
      </p:sp>
      <p:sp>
        <p:nvSpPr>
          <p:cNvPr id="24" name="t-430"/>
          <p:cNvSpPr txBox="1"/>
          <p:nvPr/>
        </p:nvSpPr>
        <p:spPr>
          <a:xfrm>
            <a:off x="6236208" y="2519172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1,2%</a:t>
            </a:r>
            <a:endParaRPr lang="en-US" sz="950" dirty="0"/>
          </a:p>
        </p:txBody>
      </p:sp>
      <p:sp>
        <p:nvSpPr>
          <p:cNvPr id="25" name="t-431"/>
          <p:cNvSpPr txBox="1"/>
          <p:nvPr/>
        </p:nvSpPr>
        <p:spPr>
          <a:xfrm>
            <a:off x="6830568" y="2519172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USIM</a:t>
            </a:r>
            <a:endParaRPr lang="en-US" sz="950" dirty="0"/>
          </a:p>
        </p:txBody>
      </p:sp>
      <p:sp>
        <p:nvSpPr>
          <p:cNvPr id="26" name="t-432"/>
          <p:cNvSpPr txBox="1"/>
          <p:nvPr/>
        </p:nvSpPr>
        <p:spPr>
          <a:xfrm>
            <a:off x="8430768" y="2519172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1,2%</a:t>
            </a:r>
            <a:endParaRPr lang="en-US" sz="950" dirty="0"/>
          </a:p>
        </p:txBody>
      </p:sp>
      <p:sp>
        <p:nvSpPr>
          <p:cNvPr id="27" name="t-433"/>
          <p:cNvSpPr txBox="1"/>
          <p:nvPr/>
        </p:nvSpPr>
        <p:spPr>
          <a:xfrm>
            <a:off x="4636008" y="2706624"/>
            <a:ext cx="42976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+ 41 outras posições somando 19,3%</a:t>
            </a:r>
            <a:endParaRPr lang="en-US" sz="900" dirty="0"/>
          </a:p>
        </p:txBody>
      </p:sp>
      <p:sp>
        <p:nvSpPr>
          <p:cNvPr id="28" name="box-434"/>
          <p:cNvSpPr/>
          <p:nvPr/>
        </p:nvSpPr>
        <p:spPr>
          <a:xfrm>
            <a:off x="4498848" y="2958084"/>
            <a:ext cx="4572000" cy="1152144"/>
          </a:xfrm>
          <a:prstGeom prst="roundRect">
            <a:avLst>
              <a:gd name="adj" fmla="val 4762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9" name="t-435"/>
          <p:cNvSpPr txBox="1"/>
          <p:nvPr/>
        </p:nvSpPr>
        <p:spPr>
          <a:xfrm>
            <a:off x="4636008" y="30129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Letras financeiras (emissor)</a:t>
            </a:r>
            <a:pPr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   15 posições</a:t>
            </a:r>
            <a:endParaRPr lang="en-US" sz="1150" dirty="0"/>
          </a:p>
        </p:txBody>
      </p:sp>
      <p:sp>
        <p:nvSpPr>
          <p:cNvPr id="30" name="t-436"/>
          <p:cNvSpPr txBox="1"/>
          <p:nvPr/>
        </p:nvSpPr>
        <p:spPr>
          <a:xfrm>
            <a:off x="8019288" y="29946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25,7%</a:t>
            </a:r>
            <a:endParaRPr lang="en-US" sz="1400" dirty="0"/>
          </a:p>
        </p:txBody>
      </p:sp>
      <p:sp>
        <p:nvSpPr>
          <p:cNvPr id="31" name="t-437"/>
          <p:cNvSpPr txBox="1"/>
          <p:nvPr/>
        </p:nvSpPr>
        <p:spPr>
          <a:xfrm>
            <a:off x="4636008" y="3268980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Santander</a:t>
            </a:r>
            <a:endParaRPr lang="en-US" sz="950" dirty="0"/>
          </a:p>
        </p:txBody>
      </p:sp>
      <p:sp>
        <p:nvSpPr>
          <p:cNvPr id="32" name="t-438"/>
          <p:cNvSpPr txBox="1"/>
          <p:nvPr/>
        </p:nvSpPr>
        <p:spPr>
          <a:xfrm>
            <a:off x="6236208" y="3268980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3,8%</a:t>
            </a:r>
            <a:endParaRPr lang="en-US" sz="950" dirty="0"/>
          </a:p>
        </p:txBody>
      </p:sp>
      <p:sp>
        <p:nvSpPr>
          <p:cNvPr id="33" name="t-439"/>
          <p:cNvSpPr txBox="1"/>
          <p:nvPr/>
        </p:nvSpPr>
        <p:spPr>
          <a:xfrm>
            <a:off x="6830568" y="3268980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Itaú</a:t>
            </a:r>
            <a:endParaRPr lang="en-US" sz="950" dirty="0"/>
          </a:p>
        </p:txBody>
      </p:sp>
      <p:sp>
        <p:nvSpPr>
          <p:cNvPr id="34" name="t-440"/>
          <p:cNvSpPr txBox="1"/>
          <p:nvPr/>
        </p:nvSpPr>
        <p:spPr>
          <a:xfrm>
            <a:off x="8430768" y="3268980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2,9%</a:t>
            </a:r>
            <a:endParaRPr lang="en-US" sz="950" dirty="0"/>
          </a:p>
        </p:txBody>
      </p:sp>
      <p:sp>
        <p:nvSpPr>
          <p:cNvPr id="35" name="t-441"/>
          <p:cNvSpPr txBox="1"/>
          <p:nvPr/>
        </p:nvSpPr>
        <p:spPr>
          <a:xfrm>
            <a:off x="4636008" y="3456432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Bradesco</a:t>
            </a:r>
            <a:endParaRPr lang="en-US" sz="950" dirty="0"/>
          </a:p>
        </p:txBody>
      </p:sp>
      <p:sp>
        <p:nvSpPr>
          <p:cNvPr id="36" name="t-442"/>
          <p:cNvSpPr txBox="1"/>
          <p:nvPr/>
        </p:nvSpPr>
        <p:spPr>
          <a:xfrm>
            <a:off x="6236208" y="3456432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2,7%</a:t>
            </a:r>
            <a:endParaRPr lang="en-US" sz="950" dirty="0"/>
          </a:p>
        </p:txBody>
      </p:sp>
      <p:sp>
        <p:nvSpPr>
          <p:cNvPr id="37" name="t-443"/>
          <p:cNvSpPr txBox="1"/>
          <p:nvPr/>
        </p:nvSpPr>
        <p:spPr>
          <a:xfrm>
            <a:off x="6830568" y="3456432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Daycoval</a:t>
            </a:r>
            <a:endParaRPr lang="en-US" sz="950" dirty="0"/>
          </a:p>
        </p:txBody>
      </p:sp>
      <p:sp>
        <p:nvSpPr>
          <p:cNvPr id="38" name="t-444"/>
          <p:cNvSpPr txBox="1"/>
          <p:nvPr/>
        </p:nvSpPr>
        <p:spPr>
          <a:xfrm>
            <a:off x="8430768" y="3456432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2,6%</a:t>
            </a:r>
            <a:endParaRPr lang="en-US" sz="950" dirty="0"/>
          </a:p>
        </p:txBody>
      </p:sp>
      <p:sp>
        <p:nvSpPr>
          <p:cNvPr id="39" name="t-445"/>
          <p:cNvSpPr txBox="1"/>
          <p:nvPr/>
        </p:nvSpPr>
        <p:spPr>
          <a:xfrm>
            <a:off x="4636008" y="3643884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Votorantim</a:t>
            </a:r>
            <a:endParaRPr lang="en-US" sz="950" dirty="0"/>
          </a:p>
        </p:txBody>
      </p:sp>
      <p:sp>
        <p:nvSpPr>
          <p:cNvPr id="40" name="t-446"/>
          <p:cNvSpPr txBox="1"/>
          <p:nvPr/>
        </p:nvSpPr>
        <p:spPr>
          <a:xfrm>
            <a:off x="6236208" y="3643884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2,3%</a:t>
            </a:r>
            <a:endParaRPr lang="en-US" sz="950" dirty="0"/>
          </a:p>
        </p:txBody>
      </p:sp>
      <p:sp>
        <p:nvSpPr>
          <p:cNvPr id="41" name="t-447"/>
          <p:cNvSpPr txBox="1"/>
          <p:nvPr/>
        </p:nvSpPr>
        <p:spPr>
          <a:xfrm>
            <a:off x="6830568" y="3643884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Nu Financeira</a:t>
            </a:r>
            <a:endParaRPr lang="en-US" sz="950" dirty="0"/>
          </a:p>
        </p:txBody>
      </p:sp>
      <p:sp>
        <p:nvSpPr>
          <p:cNvPr id="42" name="t-448"/>
          <p:cNvSpPr txBox="1"/>
          <p:nvPr/>
        </p:nvSpPr>
        <p:spPr>
          <a:xfrm>
            <a:off x="8430768" y="3643884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2,1%</a:t>
            </a:r>
            <a:endParaRPr lang="en-US" sz="950" dirty="0"/>
          </a:p>
        </p:txBody>
      </p:sp>
      <p:sp>
        <p:nvSpPr>
          <p:cNvPr id="43" name="t-449"/>
          <p:cNvSpPr txBox="1"/>
          <p:nvPr/>
        </p:nvSpPr>
        <p:spPr>
          <a:xfrm>
            <a:off x="4636008" y="3831336"/>
            <a:ext cx="42976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+ 9 outras posições somando 9,4%</a:t>
            </a:r>
            <a:endParaRPr lang="en-US" sz="900" dirty="0"/>
          </a:p>
        </p:txBody>
      </p:sp>
      <p:sp>
        <p:nvSpPr>
          <p:cNvPr id="44" name="box-450"/>
          <p:cNvSpPr/>
          <p:nvPr/>
        </p:nvSpPr>
        <p:spPr>
          <a:xfrm>
            <a:off x="4498848" y="4082796"/>
            <a:ext cx="4572000" cy="1152144"/>
          </a:xfrm>
          <a:prstGeom prst="roundRect">
            <a:avLst>
              <a:gd name="adj" fmla="val 4762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45" name="t-451"/>
          <p:cNvSpPr txBox="1"/>
          <p:nvPr/>
        </p:nvSpPr>
        <p:spPr>
          <a:xfrm>
            <a:off x="4636008" y="413766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FIDCs investidos</a:t>
            </a:r>
            <a:pPr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   36 posições</a:t>
            </a:r>
            <a:endParaRPr lang="en-US" sz="1150" dirty="0"/>
          </a:p>
        </p:txBody>
      </p:sp>
      <p:sp>
        <p:nvSpPr>
          <p:cNvPr id="46" name="t-452"/>
          <p:cNvSpPr txBox="1"/>
          <p:nvPr/>
        </p:nvSpPr>
        <p:spPr>
          <a:xfrm>
            <a:off x="8019288" y="41193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22,2%</a:t>
            </a:r>
            <a:endParaRPr lang="en-US" sz="1400" dirty="0"/>
          </a:p>
        </p:txBody>
      </p:sp>
      <p:sp>
        <p:nvSpPr>
          <p:cNvPr id="47" name="t-453"/>
          <p:cNvSpPr txBox="1"/>
          <p:nvPr/>
        </p:nvSpPr>
        <p:spPr>
          <a:xfrm>
            <a:off x="4636008" y="4393692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Empresarial</a:t>
            </a:r>
            <a:endParaRPr lang="en-US" sz="950" dirty="0"/>
          </a:p>
        </p:txBody>
      </p:sp>
      <p:sp>
        <p:nvSpPr>
          <p:cNvPr id="48" name="t-454"/>
          <p:cNvSpPr txBox="1"/>
          <p:nvPr/>
        </p:nvSpPr>
        <p:spPr>
          <a:xfrm>
            <a:off x="6236208" y="4393692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1,5%</a:t>
            </a:r>
            <a:endParaRPr lang="en-US" sz="950" dirty="0"/>
          </a:p>
        </p:txBody>
      </p:sp>
      <p:sp>
        <p:nvSpPr>
          <p:cNvPr id="49" name="t-455"/>
          <p:cNvSpPr txBox="1"/>
          <p:nvPr/>
        </p:nvSpPr>
        <p:spPr>
          <a:xfrm>
            <a:off x="6830568" y="4393692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Hope I</a:t>
            </a:r>
            <a:endParaRPr lang="en-US" sz="950" dirty="0"/>
          </a:p>
        </p:txBody>
      </p:sp>
      <p:sp>
        <p:nvSpPr>
          <p:cNvPr id="50" name="t-456"/>
          <p:cNvSpPr txBox="1"/>
          <p:nvPr/>
        </p:nvSpPr>
        <p:spPr>
          <a:xfrm>
            <a:off x="8430768" y="4393692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1,4%</a:t>
            </a:r>
            <a:endParaRPr lang="en-US" sz="950" dirty="0"/>
          </a:p>
        </p:txBody>
      </p:sp>
      <p:sp>
        <p:nvSpPr>
          <p:cNvPr id="51" name="t-457"/>
          <p:cNvSpPr txBox="1"/>
          <p:nvPr/>
        </p:nvSpPr>
        <p:spPr>
          <a:xfrm>
            <a:off x="4636008" y="4581144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Lotus Performance</a:t>
            </a:r>
            <a:endParaRPr lang="en-US" sz="950" dirty="0"/>
          </a:p>
        </p:txBody>
      </p:sp>
      <p:sp>
        <p:nvSpPr>
          <p:cNvPr id="52" name="t-458"/>
          <p:cNvSpPr txBox="1"/>
          <p:nvPr/>
        </p:nvSpPr>
        <p:spPr>
          <a:xfrm>
            <a:off x="6236208" y="4581144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1,2%</a:t>
            </a:r>
            <a:endParaRPr lang="en-US" sz="950" dirty="0"/>
          </a:p>
        </p:txBody>
      </p:sp>
      <p:sp>
        <p:nvSpPr>
          <p:cNvPr id="53" name="t-459"/>
          <p:cNvSpPr txBox="1"/>
          <p:nvPr/>
        </p:nvSpPr>
        <p:spPr>
          <a:xfrm>
            <a:off x="6830568" y="4581144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Tecnomyl</a:t>
            </a:r>
            <a:endParaRPr lang="en-US" sz="950" dirty="0"/>
          </a:p>
        </p:txBody>
      </p:sp>
      <p:sp>
        <p:nvSpPr>
          <p:cNvPr id="54" name="t-460"/>
          <p:cNvSpPr txBox="1"/>
          <p:nvPr/>
        </p:nvSpPr>
        <p:spPr>
          <a:xfrm>
            <a:off x="8430768" y="4581144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1,1%</a:t>
            </a:r>
            <a:endParaRPr lang="en-US" sz="950" dirty="0"/>
          </a:p>
        </p:txBody>
      </p:sp>
      <p:sp>
        <p:nvSpPr>
          <p:cNvPr id="55" name="t-461"/>
          <p:cNvSpPr txBox="1"/>
          <p:nvPr/>
        </p:nvSpPr>
        <p:spPr>
          <a:xfrm>
            <a:off x="4636008" y="4768596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Multiplike</a:t>
            </a:r>
            <a:endParaRPr lang="en-US" sz="950" dirty="0"/>
          </a:p>
        </p:txBody>
      </p:sp>
      <p:sp>
        <p:nvSpPr>
          <p:cNvPr id="56" name="t-462"/>
          <p:cNvSpPr txBox="1"/>
          <p:nvPr/>
        </p:nvSpPr>
        <p:spPr>
          <a:xfrm>
            <a:off x="6236208" y="4768596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1,0%</a:t>
            </a:r>
            <a:endParaRPr lang="en-US" sz="950" dirty="0"/>
          </a:p>
        </p:txBody>
      </p:sp>
      <p:sp>
        <p:nvSpPr>
          <p:cNvPr id="57" name="t-463"/>
          <p:cNvSpPr txBox="1"/>
          <p:nvPr/>
        </p:nvSpPr>
        <p:spPr>
          <a:xfrm>
            <a:off x="6830568" y="4768596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Ironwood Consig Multi I</a:t>
            </a:r>
            <a:endParaRPr lang="en-US" sz="950" dirty="0"/>
          </a:p>
        </p:txBody>
      </p:sp>
      <p:sp>
        <p:nvSpPr>
          <p:cNvPr id="58" name="t-464"/>
          <p:cNvSpPr txBox="1"/>
          <p:nvPr/>
        </p:nvSpPr>
        <p:spPr>
          <a:xfrm>
            <a:off x="8430768" y="4768596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1,0%</a:t>
            </a:r>
            <a:endParaRPr lang="en-US" sz="950" dirty="0"/>
          </a:p>
        </p:txBody>
      </p:sp>
      <p:sp>
        <p:nvSpPr>
          <p:cNvPr id="59" name="t-465"/>
          <p:cNvSpPr txBox="1"/>
          <p:nvPr/>
        </p:nvSpPr>
        <p:spPr>
          <a:xfrm>
            <a:off x="4636008" y="4956048"/>
            <a:ext cx="42976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+ 30 outras posições somando 15,0%</a:t>
            </a:r>
            <a:endParaRPr lang="en-US" sz="900" dirty="0"/>
          </a:p>
        </p:txBody>
      </p:sp>
      <p:sp>
        <p:nvSpPr>
          <p:cNvPr id="60" name="box-466"/>
          <p:cNvSpPr/>
          <p:nvPr/>
        </p:nvSpPr>
        <p:spPr>
          <a:xfrm>
            <a:off x="4498848" y="5207508"/>
            <a:ext cx="4572000" cy="964692"/>
          </a:xfrm>
          <a:prstGeom prst="roundRect">
            <a:avLst>
              <a:gd name="adj" fmla="val 5687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61" name="t-467"/>
          <p:cNvSpPr txBox="1"/>
          <p:nvPr/>
        </p:nvSpPr>
        <p:spPr>
          <a:xfrm>
            <a:off x="4636008" y="52623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Caixa e compromissadas</a:t>
            </a:r>
            <a:pPr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   5 posições</a:t>
            </a:r>
            <a:endParaRPr lang="en-US" sz="1150" dirty="0"/>
          </a:p>
        </p:txBody>
      </p:sp>
      <p:sp>
        <p:nvSpPr>
          <p:cNvPr id="62" name="t-468"/>
          <p:cNvSpPr txBox="1"/>
          <p:nvPr/>
        </p:nvSpPr>
        <p:spPr>
          <a:xfrm>
            <a:off x="8019288" y="52440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20,7%</a:t>
            </a:r>
            <a:endParaRPr lang="en-US" sz="1400" dirty="0"/>
          </a:p>
        </p:txBody>
      </p:sp>
      <p:sp>
        <p:nvSpPr>
          <p:cNvPr id="63" name="t-469"/>
          <p:cNvSpPr txBox="1"/>
          <p:nvPr/>
        </p:nvSpPr>
        <p:spPr>
          <a:xfrm>
            <a:off x="4636008" y="5518404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Compromissadas (TPF)</a:t>
            </a:r>
            <a:endParaRPr lang="en-US" sz="950" dirty="0"/>
          </a:p>
        </p:txBody>
      </p:sp>
      <p:sp>
        <p:nvSpPr>
          <p:cNvPr id="64" name="t-470"/>
          <p:cNvSpPr txBox="1"/>
          <p:nvPr/>
        </p:nvSpPr>
        <p:spPr>
          <a:xfrm>
            <a:off x="6236208" y="5518404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17,7%</a:t>
            </a:r>
            <a:endParaRPr lang="en-US" sz="950" dirty="0"/>
          </a:p>
        </p:txBody>
      </p:sp>
      <p:sp>
        <p:nvSpPr>
          <p:cNvPr id="65" name="t-471"/>
          <p:cNvSpPr txBox="1"/>
          <p:nvPr/>
        </p:nvSpPr>
        <p:spPr>
          <a:xfrm>
            <a:off x="6830568" y="5518404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Safra Soberano RP</a:t>
            </a:r>
            <a:endParaRPr lang="en-US" sz="950" dirty="0"/>
          </a:p>
        </p:txBody>
      </p:sp>
      <p:sp>
        <p:nvSpPr>
          <p:cNvPr id="66" name="t-472"/>
          <p:cNvSpPr txBox="1"/>
          <p:nvPr/>
        </p:nvSpPr>
        <p:spPr>
          <a:xfrm>
            <a:off x="8430768" y="5518404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1,9%</a:t>
            </a:r>
            <a:endParaRPr lang="en-US" sz="950" dirty="0"/>
          </a:p>
        </p:txBody>
      </p:sp>
      <p:sp>
        <p:nvSpPr>
          <p:cNvPr id="67" name="t-473"/>
          <p:cNvSpPr txBox="1"/>
          <p:nvPr/>
        </p:nvSpPr>
        <p:spPr>
          <a:xfrm>
            <a:off x="4636008" y="5705856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Itaú Soberano RF Simples</a:t>
            </a:r>
            <a:endParaRPr lang="en-US" sz="950" dirty="0"/>
          </a:p>
        </p:txBody>
      </p:sp>
      <p:sp>
        <p:nvSpPr>
          <p:cNvPr id="68" name="t-474"/>
          <p:cNvSpPr txBox="1"/>
          <p:nvPr/>
        </p:nvSpPr>
        <p:spPr>
          <a:xfrm>
            <a:off x="6236208" y="5705856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0,4%</a:t>
            </a:r>
            <a:endParaRPr lang="en-US" sz="950" dirty="0"/>
          </a:p>
        </p:txBody>
      </p:sp>
      <p:sp>
        <p:nvSpPr>
          <p:cNvPr id="69" name="t-475"/>
          <p:cNvSpPr txBox="1"/>
          <p:nvPr/>
        </p:nvSpPr>
        <p:spPr>
          <a:xfrm>
            <a:off x="6830568" y="5705856"/>
            <a:ext cx="1600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Bradesco RF Ref. DI Federal</a:t>
            </a:r>
            <a:endParaRPr lang="en-US" sz="950" dirty="0"/>
          </a:p>
        </p:txBody>
      </p:sp>
      <p:sp>
        <p:nvSpPr>
          <p:cNvPr id="70" name="t-476"/>
          <p:cNvSpPr txBox="1"/>
          <p:nvPr/>
        </p:nvSpPr>
        <p:spPr>
          <a:xfrm>
            <a:off x="8430768" y="5705856"/>
            <a:ext cx="457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0,4%</a:t>
            </a:r>
            <a:endParaRPr lang="en-US" sz="950" dirty="0"/>
          </a:p>
        </p:txBody>
      </p:sp>
      <p:sp>
        <p:nvSpPr>
          <p:cNvPr id="71" name="t-477"/>
          <p:cNvSpPr txBox="1"/>
          <p:nvPr/>
        </p:nvSpPr>
        <p:spPr>
          <a:xfrm>
            <a:off x="4636008" y="5893308"/>
            <a:ext cx="42976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+ 1 outras posições somando 0,3%</a:t>
            </a:r>
            <a:endParaRPr lang="en-US" sz="900" dirty="0"/>
          </a:p>
        </p:txBody>
      </p:sp>
      <p:sp>
        <p:nvSpPr>
          <p:cNvPr id="72" name="ln-478"/>
          <p:cNvSpPr/>
          <p:nvPr/>
        </p:nvSpPr>
        <p:spPr>
          <a:xfrm>
            <a:off x="2057400" y="3909060"/>
            <a:ext cx="169164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73" name="ln-479"/>
          <p:cNvSpPr/>
          <p:nvPr/>
        </p:nvSpPr>
        <p:spPr>
          <a:xfrm>
            <a:off x="2226564" y="3520440"/>
            <a:ext cx="0" cy="38862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74" name="ln-480"/>
          <p:cNvSpPr/>
          <p:nvPr/>
        </p:nvSpPr>
        <p:spPr>
          <a:xfrm>
            <a:off x="2226564" y="3520440"/>
            <a:ext cx="169164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75" name="ln-481"/>
          <p:cNvSpPr/>
          <p:nvPr/>
        </p:nvSpPr>
        <p:spPr>
          <a:xfrm>
            <a:off x="2057400" y="3909060"/>
            <a:ext cx="169164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76" name="ln-482"/>
          <p:cNvSpPr/>
          <p:nvPr/>
        </p:nvSpPr>
        <p:spPr>
          <a:xfrm>
            <a:off x="2226564" y="3909060"/>
            <a:ext cx="0" cy="38862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77" name="ln-483"/>
          <p:cNvSpPr/>
          <p:nvPr/>
        </p:nvSpPr>
        <p:spPr>
          <a:xfrm>
            <a:off x="2226564" y="4297680"/>
            <a:ext cx="169164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78" name="ln-484"/>
          <p:cNvSpPr/>
          <p:nvPr/>
        </p:nvSpPr>
        <p:spPr>
          <a:xfrm>
            <a:off x="4133088" y="3520440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79" name="ln-485"/>
          <p:cNvSpPr/>
          <p:nvPr/>
        </p:nvSpPr>
        <p:spPr>
          <a:xfrm>
            <a:off x="4315968" y="2315718"/>
            <a:ext cx="0" cy="1204722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80" name="ln-486"/>
          <p:cNvSpPr/>
          <p:nvPr/>
        </p:nvSpPr>
        <p:spPr>
          <a:xfrm>
            <a:off x="4315968" y="2315718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81" name="ln-487"/>
          <p:cNvSpPr/>
          <p:nvPr/>
        </p:nvSpPr>
        <p:spPr>
          <a:xfrm>
            <a:off x="4133088" y="3520440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82" name="ln-488"/>
          <p:cNvSpPr/>
          <p:nvPr/>
        </p:nvSpPr>
        <p:spPr>
          <a:xfrm>
            <a:off x="4315968" y="3520440"/>
            <a:ext cx="0" cy="13716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83" name="ln-489"/>
          <p:cNvSpPr/>
          <p:nvPr/>
        </p:nvSpPr>
        <p:spPr>
          <a:xfrm>
            <a:off x="4315968" y="3534156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84" name="ln-490"/>
          <p:cNvSpPr/>
          <p:nvPr/>
        </p:nvSpPr>
        <p:spPr>
          <a:xfrm>
            <a:off x="4133088" y="3520440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85" name="ln-491"/>
          <p:cNvSpPr/>
          <p:nvPr/>
        </p:nvSpPr>
        <p:spPr>
          <a:xfrm>
            <a:off x="4315968" y="3520440"/>
            <a:ext cx="0" cy="1138428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86" name="ln-492"/>
          <p:cNvSpPr/>
          <p:nvPr/>
        </p:nvSpPr>
        <p:spPr>
          <a:xfrm>
            <a:off x="4315968" y="4658868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87" name="ln-493"/>
          <p:cNvSpPr/>
          <p:nvPr/>
        </p:nvSpPr>
        <p:spPr>
          <a:xfrm>
            <a:off x="4133088" y="3520440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88" name="ln-494"/>
          <p:cNvSpPr/>
          <p:nvPr/>
        </p:nvSpPr>
        <p:spPr>
          <a:xfrm>
            <a:off x="4315968" y="3520440"/>
            <a:ext cx="0" cy="2169414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89" name="ln-495"/>
          <p:cNvSpPr/>
          <p:nvPr/>
        </p:nvSpPr>
        <p:spPr>
          <a:xfrm>
            <a:off x="4315968" y="5689854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90" name="ln-496"/>
          <p:cNvSpPr/>
          <p:nvPr/>
        </p:nvSpPr>
        <p:spPr>
          <a:xfrm>
            <a:off x="4133088" y="4297680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91" name="ln-497"/>
          <p:cNvSpPr/>
          <p:nvPr/>
        </p:nvSpPr>
        <p:spPr>
          <a:xfrm>
            <a:off x="4315968" y="4297680"/>
            <a:ext cx="0" cy="1392174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92" name="ln-498"/>
          <p:cNvSpPr/>
          <p:nvPr/>
        </p:nvSpPr>
        <p:spPr>
          <a:xfrm>
            <a:off x="4315968" y="5689854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93" name="box-499"/>
          <p:cNvSpPr/>
          <p:nvPr/>
        </p:nvSpPr>
        <p:spPr>
          <a:xfrm>
            <a:off x="457200" y="3223260"/>
            <a:ext cx="1600200" cy="1371600"/>
          </a:xfrm>
          <a:prstGeom prst="roundRect">
            <a:avLst>
              <a:gd name="adj" fmla="val 4000"/>
            </a:avLst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sp>
        <p:nvSpPr>
          <p:cNvPr id="94" name="t-500"/>
          <p:cNvSpPr txBox="1"/>
          <p:nvPr/>
        </p:nvSpPr>
        <p:spPr>
          <a:xfrm>
            <a:off x="566928" y="3314700"/>
            <a:ext cx="1380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Brave Prev XP Seguros FIC FIRF</a:t>
            </a: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R$ 514,9 mi</a:t>
            </a:r>
            <a:endParaRPr lang="en-US" sz="1000" dirty="0"/>
          </a:p>
        </p:txBody>
      </p:sp>
      <p:sp>
        <p:nvSpPr>
          <p:cNvPr id="95" name="box-501"/>
          <p:cNvSpPr/>
          <p:nvPr/>
        </p:nvSpPr>
        <p:spPr>
          <a:xfrm>
            <a:off x="2395728" y="324612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A8823F"/>
            </a:solidFill>
            <a:prstDash val="solid"/>
          </a:ln>
        </p:spPr>
      </p:sp>
      <p:sp>
        <p:nvSpPr>
          <p:cNvPr id="96" name="t-502"/>
          <p:cNvSpPr txBox="1"/>
          <p:nvPr/>
        </p:nvSpPr>
        <p:spPr>
          <a:xfrm>
            <a:off x="2487168" y="32826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FIRF → Brave Prev FIFE</a:t>
            </a:r>
            <a:endParaRPr lang="en-US" sz="1000" dirty="0"/>
          </a:p>
        </p:txBody>
      </p:sp>
      <p:sp>
        <p:nvSpPr>
          <p:cNvPr id="97" name="t-503"/>
          <p:cNvSpPr txBox="1"/>
          <p:nvPr/>
        </p:nvSpPr>
        <p:spPr>
          <a:xfrm>
            <a:off x="2487168" y="35021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99%</a:t>
            </a:r>
            <a:endParaRPr lang="en-US" sz="1400" dirty="0"/>
          </a:p>
        </p:txBody>
      </p:sp>
      <p:sp>
        <p:nvSpPr>
          <p:cNvPr id="98" name="box-504"/>
          <p:cNvSpPr/>
          <p:nvPr/>
        </p:nvSpPr>
        <p:spPr>
          <a:xfrm>
            <a:off x="2395728" y="402336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A8823F"/>
            </a:solidFill>
            <a:prstDash val="solid"/>
          </a:ln>
        </p:spPr>
      </p:sp>
      <p:sp>
        <p:nvSpPr>
          <p:cNvPr id="99" name="t-505"/>
          <p:cNvSpPr txBox="1"/>
          <p:nvPr/>
        </p:nvSpPr>
        <p:spPr>
          <a:xfrm>
            <a:off x="2487168" y="40599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Caixa*</a:t>
            </a:r>
            <a:endParaRPr lang="en-US" sz="1000" dirty="0"/>
          </a:p>
        </p:txBody>
      </p:sp>
      <p:sp>
        <p:nvSpPr>
          <p:cNvPr id="100" name="t-506"/>
          <p:cNvSpPr txBox="1"/>
          <p:nvPr/>
        </p:nvSpPr>
        <p:spPr>
          <a:xfrm>
            <a:off x="2487168" y="42793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1%</a:t>
            </a:r>
            <a:endParaRPr lang="en-US" sz="1400" dirty="0"/>
          </a:p>
        </p:txBody>
      </p:sp>
      <p:sp>
        <p:nvSpPr>
          <p:cNvPr id="101" name="ln-507"/>
          <p:cNvSpPr/>
          <p:nvPr/>
        </p:nvSpPr>
        <p:spPr>
          <a:xfrm>
            <a:off x="9070848" y="4658868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102" name="ln-508"/>
          <p:cNvSpPr/>
          <p:nvPr/>
        </p:nvSpPr>
        <p:spPr>
          <a:xfrm>
            <a:off x="9253728" y="4658868"/>
            <a:ext cx="182880" cy="0"/>
          </a:xfrm>
          <a:prstGeom prst="line">
            <a:avLst/>
          </a:prstGeom>
          <a:noFill/>
          <a:ln w="15875">
            <a:solidFill>
              <a:srgbClr val="B9A27A"/>
            </a:solidFill>
            <a:prstDash val="solid"/>
          </a:ln>
        </p:spPr>
      </p:sp>
      <p:sp>
        <p:nvSpPr>
          <p:cNvPr id="103" name="box-509"/>
          <p:cNvSpPr/>
          <p:nvPr/>
        </p:nvSpPr>
        <p:spPr>
          <a:xfrm>
            <a:off x="9436608" y="2990088"/>
            <a:ext cx="2304288" cy="3182112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9C7A3"/>
            </a:solidFill>
            <a:prstDash val="solid"/>
          </a:ln>
        </p:spPr>
      </p:sp>
      <p:sp>
        <p:nvSpPr>
          <p:cNvPr id="104" name="t-510"/>
          <p:cNvSpPr txBox="1"/>
          <p:nvPr/>
        </p:nvSpPr>
        <p:spPr>
          <a:xfrm>
            <a:off x="9546336" y="306324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Recebíveis · % do PL do fundo</a:t>
            </a:r>
            <a:endParaRPr lang="en-US" sz="950" dirty="0"/>
          </a:p>
        </p:txBody>
      </p:sp>
      <p:sp>
        <p:nvSpPr>
          <p:cNvPr id="105" name="t-511"/>
          <p:cNvSpPr txBox="1"/>
          <p:nvPr/>
        </p:nvSpPr>
        <p:spPr>
          <a:xfrm>
            <a:off x="9546336" y="3374136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Crédito pessoal e corp.</a:t>
            </a:r>
            <a:endParaRPr lang="en-US" sz="850" dirty="0"/>
          </a:p>
        </p:txBody>
      </p:sp>
      <p:sp>
        <p:nvSpPr>
          <p:cNvPr id="106" name="bar-512"/>
          <p:cNvSpPr/>
          <p:nvPr/>
        </p:nvSpPr>
        <p:spPr>
          <a:xfrm>
            <a:off x="9546336" y="3520440"/>
            <a:ext cx="1435608" cy="82296"/>
          </a:xfrm>
          <a:prstGeom prst="rect">
            <a:avLst/>
          </a:prstGeom>
          <a:solidFill>
            <a:srgbClr val="A8823F"/>
          </a:solidFill>
          <a:ln/>
        </p:spPr>
      </p:sp>
      <p:sp>
        <p:nvSpPr>
          <p:cNvPr id="107" name="t-513"/>
          <p:cNvSpPr txBox="1"/>
          <p:nvPr/>
        </p:nvSpPr>
        <p:spPr>
          <a:xfrm>
            <a:off x="11119104" y="343814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6,8%</a:t>
            </a:r>
            <a:endParaRPr lang="en-US" sz="850" dirty="0"/>
          </a:p>
        </p:txBody>
      </p:sp>
      <p:sp>
        <p:nvSpPr>
          <p:cNvPr id="108" name="t-514"/>
          <p:cNvSpPr txBox="1"/>
          <p:nvPr/>
        </p:nvSpPr>
        <p:spPr>
          <a:xfrm>
            <a:off x="9546336" y="3648456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Comércio/varejo</a:t>
            </a:r>
            <a:endParaRPr lang="en-US" sz="850" dirty="0"/>
          </a:p>
        </p:txBody>
      </p:sp>
      <p:sp>
        <p:nvSpPr>
          <p:cNvPr id="109" name="bar-515"/>
          <p:cNvSpPr/>
          <p:nvPr/>
        </p:nvSpPr>
        <p:spPr>
          <a:xfrm>
            <a:off x="9546336" y="3794760"/>
            <a:ext cx="1236489" cy="82296"/>
          </a:xfrm>
          <a:prstGeom prst="rect">
            <a:avLst/>
          </a:prstGeom>
          <a:solidFill>
            <a:srgbClr val="A8823F"/>
          </a:solidFill>
          <a:ln/>
        </p:spPr>
      </p:sp>
      <p:sp>
        <p:nvSpPr>
          <p:cNvPr id="110" name="t-516"/>
          <p:cNvSpPr txBox="1"/>
          <p:nvPr/>
        </p:nvSpPr>
        <p:spPr>
          <a:xfrm>
            <a:off x="11119104" y="371246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5,9%</a:t>
            </a:r>
            <a:endParaRPr lang="en-US" sz="850" dirty="0"/>
          </a:p>
        </p:txBody>
      </p:sp>
      <p:sp>
        <p:nvSpPr>
          <p:cNvPr id="111" name="t-517"/>
          <p:cNvSpPr txBox="1"/>
          <p:nvPr/>
        </p:nvSpPr>
        <p:spPr>
          <a:xfrm>
            <a:off x="9546336" y="3922776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Indústria</a:t>
            </a:r>
            <a:endParaRPr lang="en-US" sz="850" dirty="0"/>
          </a:p>
        </p:txBody>
      </p:sp>
      <p:sp>
        <p:nvSpPr>
          <p:cNvPr id="112" name="bar-518"/>
          <p:cNvSpPr/>
          <p:nvPr/>
        </p:nvSpPr>
        <p:spPr>
          <a:xfrm>
            <a:off x="9546336" y="4069080"/>
            <a:ext cx="795072" cy="82296"/>
          </a:xfrm>
          <a:prstGeom prst="rect">
            <a:avLst/>
          </a:prstGeom>
          <a:solidFill>
            <a:srgbClr val="A8823F"/>
          </a:solidFill>
          <a:ln/>
        </p:spPr>
      </p:sp>
      <p:sp>
        <p:nvSpPr>
          <p:cNvPr id="113" name="t-519"/>
          <p:cNvSpPr txBox="1"/>
          <p:nvPr/>
        </p:nvSpPr>
        <p:spPr>
          <a:xfrm>
            <a:off x="11119104" y="398678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3,8%</a:t>
            </a:r>
            <a:endParaRPr lang="en-US" sz="850" dirty="0"/>
          </a:p>
        </p:txBody>
      </p:sp>
      <p:sp>
        <p:nvSpPr>
          <p:cNvPr id="114" name="t-520"/>
          <p:cNvSpPr txBox="1"/>
          <p:nvPr/>
        </p:nvSpPr>
        <p:spPr>
          <a:xfrm>
            <a:off x="9546336" y="4197096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Caixa dos FIDCs</a:t>
            </a:r>
            <a:endParaRPr lang="en-US" sz="850" dirty="0"/>
          </a:p>
        </p:txBody>
      </p:sp>
      <p:sp>
        <p:nvSpPr>
          <p:cNvPr id="115" name="bar-521"/>
          <p:cNvSpPr/>
          <p:nvPr/>
        </p:nvSpPr>
        <p:spPr>
          <a:xfrm>
            <a:off x="9546336" y="4343400"/>
            <a:ext cx="377161" cy="82296"/>
          </a:xfrm>
          <a:prstGeom prst="rect">
            <a:avLst/>
          </a:prstGeom>
          <a:solidFill>
            <a:srgbClr val="7A8599"/>
          </a:solidFill>
          <a:ln/>
        </p:spPr>
      </p:sp>
      <p:sp>
        <p:nvSpPr>
          <p:cNvPr id="116" name="t-522"/>
          <p:cNvSpPr txBox="1"/>
          <p:nvPr/>
        </p:nvSpPr>
        <p:spPr>
          <a:xfrm>
            <a:off x="11119104" y="426110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1,8%</a:t>
            </a:r>
            <a:endParaRPr lang="en-US" sz="850" dirty="0"/>
          </a:p>
        </p:txBody>
      </p:sp>
      <p:sp>
        <p:nvSpPr>
          <p:cNvPr id="117" name="t-523"/>
          <p:cNvSpPr txBox="1"/>
          <p:nvPr/>
        </p:nvSpPr>
        <p:spPr>
          <a:xfrm>
            <a:off x="9546336" y="4471416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Serviços</a:t>
            </a:r>
            <a:endParaRPr lang="en-US" sz="850" dirty="0"/>
          </a:p>
        </p:txBody>
      </p:sp>
      <p:sp>
        <p:nvSpPr>
          <p:cNvPr id="118" name="bar-524"/>
          <p:cNvSpPr/>
          <p:nvPr/>
        </p:nvSpPr>
        <p:spPr>
          <a:xfrm>
            <a:off x="9546336" y="4617720"/>
            <a:ext cx="299705" cy="82296"/>
          </a:xfrm>
          <a:prstGeom prst="rect">
            <a:avLst/>
          </a:prstGeom>
          <a:solidFill>
            <a:srgbClr val="A8823F"/>
          </a:solidFill>
          <a:ln/>
        </p:spPr>
      </p:sp>
      <p:sp>
        <p:nvSpPr>
          <p:cNvPr id="119" name="t-525"/>
          <p:cNvSpPr txBox="1"/>
          <p:nvPr/>
        </p:nvSpPr>
        <p:spPr>
          <a:xfrm>
            <a:off x="11119104" y="453542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1,4%</a:t>
            </a:r>
            <a:endParaRPr lang="en-US" sz="850" dirty="0"/>
          </a:p>
        </p:txBody>
      </p:sp>
      <p:sp>
        <p:nvSpPr>
          <p:cNvPr id="120" name="t-526"/>
          <p:cNvSpPr txBox="1"/>
          <p:nvPr/>
        </p:nvSpPr>
        <p:spPr>
          <a:xfrm>
            <a:off x="9546336" y="4745736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Sem abertura (FIC/Fiagro)</a:t>
            </a:r>
            <a:endParaRPr lang="en-US" sz="850" dirty="0"/>
          </a:p>
        </p:txBody>
      </p:sp>
      <p:sp>
        <p:nvSpPr>
          <p:cNvPr id="121" name="bar-527"/>
          <p:cNvSpPr/>
          <p:nvPr/>
        </p:nvSpPr>
        <p:spPr>
          <a:xfrm>
            <a:off x="9546336" y="4892040"/>
            <a:ext cx="195481" cy="82296"/>
          </a:xfrm>
          <a:prstGeom prst="rect">
            <a:avLst/>
          </a:prstGeom>
          <a:solidFill>
            <a:srgbClr val="7A8599"/>
          </a:solidFill>
          <a:ln/>
        </p:spPr>
      </p:sp>
      <p:sp>
        <p:nvSpPr>
          <p:cNvPr id="122" name="t-528"/>
          <p:cNvSpPr txBox="1"/>
          <p:nvPr/>
        </p:nvSpPr>
        <p:spPr>
          <a:xfrm>
            <a:off x="11119104" y="480974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0,9%</a:t>
            </a:r>
            <a:endParaRPr lang="en-US" sz="850" dirty="0"/>
          </a:p>
        </p:txBody>
      </p:sp>
      <p:sp>
        <p:nvSpPr>
          <p:cNvPr id="123" name="t-529"/>
          <p:cNvSpPr txBox="1"/>
          <p:nvPr/>
        </p:nvSpPr>
        <p:spPr>
          <a:xfrm>
            <a:off x="9546336" y="5020056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Cartão de crédito</a:t>
            </a:r>
            <a:endParaRPr lang="en-US" sz="850" dirty="0"/>
          </a:p>
        </p:txBody>
      </p:sp>
      <p:sp>
        <p:nvSpPr>
          <p:cNvPr id="124" name="bar-530"/>
          <p:cNvSpPr/>
          <p:nvPr/>
        </p:nvSpPr>
        <p:spPr>
          <a:xfrm>
            <a:off x="9546336" y="5166360"/>
            <a:ext cx="181560" cy="82296"/>
          </a:xfrm>
          <a:prstGeom prst="rect">
            <a:avLst/>
          </a:prstGeom>
          <a:solidFill>
            <a:srgbClr val="A8823F"/>
          </a:solidFill>
          <a:ln/>
        </p:spPr>
      </p:sp>
      <p:sp>
        <p:nvSpPr>
          <p:cNvPr id="125" name="t-531"/>
          <p:cNvSpPr txBox="1"/>
          <p:nvPr/>
        </p:nvSpPr>
        <p:spPr>
          <a:xfrm>
            <a:off x="11119104" y="508406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0,9%</a:t>
            </a:r>
            <a:endParaRPr lang="en-US" sz="850" dirty="0"/>
          </a:p>
        </p:txBody>
      </p:sp>
      <p:sp>
        <p:nvSpPr>
          <p:cNvPr id="126" name="t-532"/>
          <p:cNvSpPr txBox="1"/>
          <p:nvPr/>
        </p:nvSpPr>
        <p:spPr>
          <a:xfrm>
            <a:off x="9546336" y="5294376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Crédito consignado</a:t>
            </a:r>
            <a:endParaRPr lang="en-US" sz="850" dirty="0"/>
          </a:p>
        </p:txBody>
      </p:sp>
      <p:sp>
        <p:nvSpPr>
          <p:cNvPr id="127" name="bar-533"/>
          <p:cNvSpPr/>
          <p:nvPr/>
        </p:nvSpPr>
        <p:spPr>
          <a:xfrm>
            <a:off x="9546336" y="5440680"/>
            <a:ext cx="152120" cy="82296"/>
          </a:xfrm>
          <a:prstGeom prst="rect">
            <a:avLst/>
          </a:prstGeom>
          <a:solidFill>
            <a:srgbClr val="A8823F"/>
          </a:solidFill>
          <a:ln/>
        </p:spPr>
      </p:sp>
      <p:sp>
        <p:nvSpPr>
          <p:cNvPr id="128" name="t-534"/>
          <p:cNvSpPr txBox="1"/>
          <p:nvPr/>
        </p:nvSpPr>
        <p:spPr>
          <a:xfrm>
            <a:off x="11119104" y="535838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0,7%</a:t>
            </a:r>
            <a:endParaRPr lang="en-US" sz="850" dirty="0"/>
          </a:p>
        </p:txBody>
      </p:sp>
      <p:sp>
        <p:nvSpPr>
          <p:cNvPr id="129" name="t-535"/>
          <p:cNvSpPr txBox="1"/>
          <p:nvPr/>
        </p:nvSpPr>
        <p:spPr>
          <a:xfrm>
            <a:off x="9546336" y="5605272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chemeClr val="accent4"/>
                </a:solidFill>
              </a:rPr>
              <a:t>Rateio pela carteira de cada FIDC (Informe Mensal CVM). Não separa sênior/mezanino. “Crédito pessoal e corp.” inclui outros créditos financeiros.</a:t>
            </a:r>
            <a:endParaRPr lang="en-US" sz="800" dirty="0"/>
          </a:p>
        </p:txBody>
      </p:sp>
      <p:sp>
        <p:nvSpPr>
          <p:cNvPr id="130" name="t-536"/>
          <p:cNvSpPr txBox="1"/>
          <p:nvPr/>
        </p:nvSpPr>
        <p:spPr>
          <a:xfrm>
            <a:off x="457200" y="63276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4"/>
                </a:solidFill>
              </a:rPr>
              <a:t>Classes: lâmina set/26 · FIC→FIFE: CDA 31/08/2026 · Ativos do FIFE: CDA 30/06/2026 (ago/26 em sigilo até 29/11/26) · Lastro: Informe FIDC 06/2026  ·  *Caixa = zeragem e títulos públicos (nota da lâmina). % do nível 2 = lâmina set/26; % dos níveis 3–4 = data-base CVM indicada.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mesmos FIDCs se repetem nos fundos</a:t>
            </a:r>
            <a:endParaRPr lang="en-US" sz="3000" dirty="0"/>
          </a:p>
        </p:txBody>
      </p:sp>
      <p:sp>
        <p:nvSpPr>
          <p:cNvPr id="3" name="box-537"/>
          <p:cNvSpPr/>
          <p:nvPr/>
        </p:nvSpPr>
        <p:spPr>
          <a:xfrm>
            <a:off x="457200" y="1280160"/>
            <a:ext cx="3108960" cy="4754880"/>
          </a:xfrm>
          <a:prstGeom prst="roundRect">
            <a:avLst>
              <a:gd name="adj" fmla="val 1765"/>
            </a:avLst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sp>
        <p:nvSpPr>
          <p:cNvPr id="4" name="t-538"/>
          <p:cNvSpPr txBox="1"/>
          <p:nvPr/>
        </p:nvSpPr>
        <p:spPr>
          <a:xfrm>
            <a:off x="731520" y="16002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6600" dirty="0"/>
          </a:p>
        </p:txBody>
      </p:sp>
      <p:sp>
        <p:nvSpPr>
          <p:cNvPr id="5" name="t-539"/>
          <p:cNvSpPr txBox="1"/>
          <p:nvPr/>
        </p:nvSpPr>
        <p:spPr>
          <a:xfrm>
            <a:off x="731520" y="2743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dos 77 FIDCs/Fiagros mapeados aparecem em pelo menos 3 dos 4 fundos abertos.</a:t>
            </a:r>
            <a:endParaRPr lang="en-US" sz="1400" dirty="0"/>
          </a:p>
        </p:txBody>
      </p:sp>
      <p:sp>
        <p:nvSpPr>
          <p:cNvPr id="6" name="t-540"/>
          <p:cNvSpPr txBox="1"/>
          <p:nvPr/>
        </p:nvSpPr>
        <p:spPr>
          <a:xfrm>
            <a:off x="731520" y="39319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3"/>
                </a:solidFill>
              </a:rPr>
              <a:t>Quem soma posições em mais de um fundo Brave não diversifica tanto quanto parece: o risco de cada FIDC se repete.</a:t>
            </a:r>
            <a:endParaRPr lang="en-US" sz="1150" dirty="0"/>
          </a:p>
        </p:txBody>
      </p:sp>
      <p:graphicFrame>
        <p:nvGraphicFramePr>
          <p:cNvPr id="8" name="tabela-sobreposica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280160"/>
          <a:ext cx="781812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1234440"/>
                <a:gridCol w="1234440"/>
                <a:gridCol w="1234440"/>
                <a:gridCol w="12344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FIDC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E54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Brave 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E54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Brave 180 XP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E54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E54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 (FIFE)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E542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Empresarial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Multisetorial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Futuro Previdência Consig.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Harpia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Hope 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Ironwood Consig Multi 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Agro Defender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Lotus Performance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FIDC CNPJ 54.326.936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Varyagi 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2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-541"/>
          <p:cNvSpPr txBox="1"/>
          <p:nvPr/>
        </p:nvSpPr>
        <p:spPr>
          <a:xfrm>
            <a:off x="3931920" y="571500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% do PL de cada fundo. Brave 90 e 180 XP: CDA 31/08/2026; Iron e FIFE: CDA 30/06/2026. 14 maiores de 29 em comum. Brave 30 fora (sem lista pública).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Fontes, datas e ressalvas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Antes de usar com cliente, conferir na lâmina, no regulamento e no relatório de gestão.</a:t>
            </a:r>
            <a:endParaRPr lang="en-US" sz="1600" dirty="0"/>
          </a:p>
        </p:txBody>
      </p:sp>
      <p:sp>
        <p:nvSpPr>
          <p:cNvPr id="4" name="fontes"/>
          <p:cNvSpPr txBox="1"/>
          <p:nvPr/>
        </p:nvSpPr>
        <p:spPr>
          <a:xfrm>
            <a:off x="640080" y="2240280"/>
            <a:ext cx="10881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Nível 2 (classes): lâminas Brave Asset de setembro/2026.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Nível 3 (ativos): CDA da CVM (dados.cvm.gov.br). Brave 90, Brave 180 XP e Prev XP Seguros em 31/08/2026. Iron e Prev FIFE em 30/06/2026, porque agosto está em sigilo até 29/11/2026.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Brave 30: só o Informe Mensal de FIDC (31/08/2026), sem os FIDCs investidos. [verificar] com a gestora.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Nível 4 (lastro): Informe Mensal de FIDC (CVM, 06 e 08/2026) de cada FIDC investido, rateado pela posição. É aproximação: ignora sênior x mezanino e a subordinação.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Debêntures aparecem pelo código do ativo (ex.: RDOR, SBSP). O emissor deve ser conferido; não foi inferido.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Percentuais da lâmina e da CVM têm datas diferentes e não precisam bater.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tao e Tinta">
  <a:themeElements>
    <a:clrScheme name="Latao e Tinta">
      <a:dk1>
        <a:srgbClr val="1C2230"/>
      </a:dk1>
      <a:lt1>
        <a:srgbClr val="FFFFFF"/>
      </a:lt1>
      <a:dk2>
        <a:srgbClr val="3A4357"/>
      </a:dk2>
      <a:lt2>
        <a:srgbClr val="F1F2F4"/>
      </a:lt2>
      <a:accent1>
        <a:srgbClr val="A8823F"/>
      </a:accent1>
      <a:accent2>
        <a:srgbClr val="6E5426"/>
      </a:accent2>
      <a:accent3>
        <a:srgbClr val="D9C7A3"/>
      </a:accent3>
      <a:accent4>
        <a:srgbClr val="7A8599"/>
      </a:accent4>
      <a:accent5>
        <a:srgbClr val="B5533C"/>
      </a:accent5>
      <a:accent6>
        <a:srgbClr val="4F6B5A"/>
      </a:accent6>
      <a:hlink>
        <a:srgbClr val="A8823F"/>
      </a:hlink>
      <a:folHlink>
        <a:srgbClr val="6E5426"/>
      </a:folHlink>
    </a:clrScheme>
    <a:fontScheme name="Latao e Tint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Brave Asset - abertura das carteiras</dc:title>
  <dc:subject>PptxGenJS Presentation</dc:subject>
  <dc:creator>Alexandre Welter</dc:creator>
  <cp:lastModifiedBy>Alexandre Welter</cp:lastModifiedBy>
  <cp:revision>1</cp:revision>
  <dcterms:created xsi:type="dcterms:W3CDTF">2026-10-02T20:18:31Z</dcterms:created>
  <dcterms:modified xsi:type="dcterms:W3CDTF">2026-10-02T20:18:31Z</dcterms:modified>
</cp:coreProperties>
</file>